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75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3756"/>
                </a:solidFill>
                <a:latin typeface="Arial"/>
              </a:rPr>
              <a:t>Nodes searched — start position, depth 5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Nodes</c:v>
                </c:pt>
              </c:strCache>
            </c:strRef>
          </c:tx>
          <c:spPr>
            <a:solidFill>
              <a:srgbClr val="3465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75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Plain Minimax</c:v>
                  </c:pt>
                  <c:pt idx="1">
                    <c:v>+ Alpha-Beta</c:v>
                  </c:pt>
                  <c:pt idx="2">
                    <c:v>+ MVV-LVA + TT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5072213</c:v>
                </c:pt>
                <c:pt idx="1">
                  <c:v>113360</c:v>
                </c:pt>
                <c:pt idx="2">
                  <c:v>58356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375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9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0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foai-chess-engine.web.app" TargetMode="External"/><Relationship Id="rId3" Type="http://schemas.openxmlformats.org/officeDocument/2006/relationships/hyperlink" Target="https://github.com/SaIdEeVaN/FOAI-Project" TargetMode="External"/><Relationship Id="rId1" Type="http://schemas.openxmlformats.org/officeDocument/2006/relationships/image" Target="../media/image-13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1" Type="http://schemas.openxmlformats.org/officeDocument/2006/relationships/hyperlink" Target="https://foai-chess-engine.web.app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976" y="457200"/>
            <a:ext cx="3429000" cy="11064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6916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Cyber Security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2402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2026-2027- Odd Semester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88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Year /V Sem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375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CS23533-FOUNDATIONS OF ARTIFICIAL INTELLIGENCE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8862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State-Space Optimization in Chess Environments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4348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1 – 25.09.2026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Baviri Setty Sai Deevan (241901016)  |  Monish Priyan M (241901057)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S. Bhuvana, Assistant Professor [SG]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Engineering College,Department of Cyber Security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1051560"/>
            <a:ext cx="630936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builds a chess-playing agent that treats chess as a fully observable, deterministic, zero-sum adversarial state space.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goal-based intelligent agent formulates the board as states, legal moves as actions and move execution as the transition function.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come purely from classical AI search and a hand-crafted heuristic — no machine learning, neural networks or external datasets.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position the engine outputs the best move with transparent telemetry: search depth, nodes expanded and evaluation score.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is live at foai-chess-engine.web.app — it runs entirely in the browser, with no install and no server.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06640" y="1051560"/>
            <a:ext cx="4206240" cy="4846320"/>
          </a:xfrm>
          <a:prstGeom prst="roundRect">
            <a:avLst>
              <a:gd name="adj" fmla="val 3261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809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ENVIRONMENT (AIMA)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1938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observable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359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606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(competitive)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026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273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no chance element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941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4361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6085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(semi-dynamic with a clock)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5029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/ Actions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5276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1051560"/>
            <a:ext cx="64008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has an enormous game tree, so exhaustive search is impossible and plain Minimax reaches only a shallow depth in practical time.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Depth-limited search suffers from the horizon effect — evaluating a position in the middle of a capture sequence gives misleading scores.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move ordering and position caching, Alpha-Beta pruning is inefficient and the same positions are searched repeatedly.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 engines depend on external libraries for move generation and act as black boxes, hiding the AI reasoning.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 is needed that searches efficiently within a time budget, stays tactically accurate and exposes its decisions.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89520" y="10515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818120" y="11612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35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8928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legal moves per chess position (branching factor)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269748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18120" y="28072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3800" b="1" baseline="30000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35387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game-tree size of chess (Shannon, 1950)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434340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818120" y="44531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1.8 B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5184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 for a plain 6-ply Minimax search (35</a:t>
            </a:r>
            <a:r>
              <a:rPr lang="en-US" sz="1300" baseline="300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1051560"/>
            <a:ext cx="6126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is the classic benchmark for adversarial search in AI, from Shannon's 1950 paper to Deep Blue's 1997 victory.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move generation, search and evaluation from first principles puts the core concepts of this course into practice.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engines rely on neural networks (Stockfish NNUE, AlphaZero); this project shows how far pure classical AI and heuristic reasoning can go.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engine makes the effect of each optimisation — pruning, ordering, hashing — measurable and explainable.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909560" y="1325880"/>
            <a:ext cx="0" cy="4297680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05156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65A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3524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1051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formalises minimax search for chess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35240" y="1901952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65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3524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19019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Knuth &amp; Moore analyse alpha-beta pruning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35240" y="2752344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65A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35240" y="2752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75234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defeats world champion Kasparov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35240" y="360273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65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35240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6027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AlphaZero learns chess through self-play RL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35240" y="445312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65A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4531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Stockfish adopts NNUE neural evaluation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635240" y="5303520"/>
            <a:ext cx="548640" cy="548640"/>
          </a:xfrm>
          <a:prstGeom prst="ellipse">
            <a:avLst/>
          </a:prstGeom>
          <a:solidFill>
            <a:srgbClr val="1F3756"/>
          </a:solidFill>
          <a:ln w="19050">
            <a:solidFill>
              <a:srgbClr val="1F375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352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5303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classical search — fully interpretable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" y="1097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0515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model the chessboard as a formal state-space search problem consistent with intelligent-agent theory.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85216" y="19476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9019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self-contained board representation and legal move generator without any external chess library.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5216" y="279806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75234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Minimax (as Negamax) with Alpha-Beta Pruning, Iterative Deepening and Quiescence Search.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85216" y="364845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60273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the effective branching factor using move ordering (MVV-LVA) and a Zobrist-hashed transposition table.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85216" y="44988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45312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 hand-crafted evaluation function covering material, position, mobility, pawn structure and king safety.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85216" y="5349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3035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validate move generation with Perft and make each technique's cost visible through a browser interface with a teaching mode.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96112"/>
          <a:ext cx="11365992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783080"/>
                <a:gridCol w="2240280"/>
                <a:gridCol w="3502152"/>
                <a:gridCol w="3246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Shannon (1950)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Minimax over a game tree with a static evaluation 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Laid the foundation of computer chess: search a depth-limited tree and score leaf positions heuristically.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Full-width Minimax grows exponentially; without pruning the practical depth is very shallow.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Zobrist (1970)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Zobrist hashing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of random keys gives an incrementally updatable key per position, enabling transposition tables.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hash collisions; table size and replacement policy must be managed.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Knuth &amp; Moore (1975)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of Alpha-Beta Pruning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Proved Alpha-Beta returns the Minimax value; with perfect ordering it examines about b^(d/2) nodes.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depend on move ordering; the worst case equals plain Minimax.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Korf (1985)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Depth-First Iterative Deepening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depth-limited searches are asymptotically optimal in time while using only linear memory.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levels are re-expanded in every iteration (small overhead).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Campbell, Hoane &amp; Hsu (2002)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Blue – parallel Alpha-Beta with custom hardware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Defeated the world champion in 1997 using massive search and ~8,000 hand-tuned evaluation features.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Relied on specialised VLSI chips; not reproducible on commodity hardware.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Coulom (2006)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Monte-Carlo Tree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Sampling-based tree search with selective backup operators as an alternative to Minimax.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playouts are unreliable in tactically sharp games like chess without learned guidance.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1051560"/>
            <a:ext cx="56692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b="1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(IBM, 1997): </a:t>
            </a: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Alpha-Beta search on custom VLSI hardware with ~8,000 hand-tuned evaluation features.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b="1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Stockfish: </a:t>
            </a: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Alpha-Beta search combined with an NNUE neural-network evaluation — a hybrid, not purely classical.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b="1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AlphaZero (DeepMind): </a:t>
            </a: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hand-crafted evaluation with deep reinforcement learning and neural-guided MCTS.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b="1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student engines: </a:t>
            </a: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external libraries (e.g. python-chess) for move generation and use plain fixed-depth Minimax.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b="1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hardware or ML dependence, poor pruning without move ordering or transposition tables, and no visibility into the search.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20840" y="1005840"/>
            <a:ext cx="5029200" cy="5074920"/>
          </a:xfrm>
          <a:prstGeom prst="roundRect">
            <a:avLst>
              <a:gd name="adj" fmla="val 6364"/>
            </a:avLst>
          </a:prstGeom>
          <a:solidFill>
            <a:srgbClr val="F8FAFC"/>
          </a:solidFill>
          <a:ln w="15875">
            <a:solidFill>
              <a:srgbClr val="3465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BASIC ENGINE 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69480" y="1600200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24344" y="160020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Position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35440" y="2167128"/>
            <a:ext cx="0" cy="237744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69480" y="2404872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24344" y="2404872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Library (python-chess)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Generation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0" y="2971800"/>
            <a:ext cx="0" cy="237744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69480" y="3209544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24344" y="3209544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Minimax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(fixed depth, no pruning)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35440" y="3776472"/>
            <a:ext cx="0" cy="237744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69480" y="4014216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24344" y="4014216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Material-only Evaluation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5440" y="4581144"/>
            <a:ext cx="0" cy="237744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69480" y="4818888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24344" y="4818888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Output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5486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branch is expanded, so the search stays shallow and the reasoning stays hidden.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1051560"/>
            <a:ext cx="53949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self-built board representation and legal move generator handles castling, en passant and promotion without any chess library.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Deepening drives a Negamax search with Alpha-Beta Pruning, from depth 1 up to 12 within a 2-second budget.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Hash-move and MVV-LVA ordering plus a Zobrist transposition table maximise pruning and avoid re-searching positions.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depth limit, Quiescence Search resolves pending captures before the hand-crafted evaluation scores the position.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runs in a Web Worker, so the interface stays responsive while it searches.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63640" y="932688"/>
            <a:ext cx="5669280" cy="507492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5875">
            <a:solidFill>
              <a:srgbClr val="3465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PROCESS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92240" y="1325880"/>
            <a:ext cx="1143000" cy="566928"/>
          </a:xfrm>
          <a:prstGeom prst="roundRect">
            <a:avLst>
              <a:gd name="adj" fmla="val 1612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47104" y="1325880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State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(Input)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63840" y="1325880"/>
            <a:ext cx="1188720" cy="566928"/>
          </a:xfrm>
          <a:prstGeom prst="roundRect">
            <a:avLst>
              <a:gd name="adj" fmla="val 1612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918704" y="132588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Gen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Legality Filter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81160" y="132588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36024" y="13258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Deepening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(depth 1 → 12, 2 s budget)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35240" y="1609344"/>
            <a:ext cx="228600" cy="0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52560" y="1609344"/>
            <a:ext cx="228600" cy="0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469880" y="1892808"/>
            <a:ext cx="0" cy="274320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81160" y="2167128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336024" y="2167128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Negamax + Alpha-Beta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(repetition check, TT probe)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2167128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47104" y="2167128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limit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2450592"/>
            <a:ext cx="411480" cy="0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headEnd type="triangle"/>
          </a:ln>
        </p:spPr>
      </p:sp>
      <p:sp>
        <p:nvSpPr>
          <p:cNvPr id="23" name="Shape 21"/>
          <p:cNvSpPr/>
          <p:nvPr/>
        </p:nvSpPr>
        <p:spPr>
          <a:xfrm>
            <a:off x="7680960" y="2734056"/>
            <a:ext cx="0" cy="374904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772400" y="2770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92240" y="3108960"/>
            <a:ext cx="2377440" cy="530352"/>
          </a:xfrm>
          <a:prstGeom prst="roundRect">
            <a:avLst>
              <a:gd name="adj" fmla="val 17241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47104" y="3108960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Quiescence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(captures only)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80960" y="3639312"/>
            <a:ext cx="0" cy="201168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92240" y="3840480"/>
            <a:ext cx="2377440" cy="530352"/>
          </a:xfrm>
          <a:prstGeom prst="roundRect">
            <a:avLst>
              <a:gd name="adj" fmla="val 17241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547104" y="3840480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Function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(material, PST, mobility …)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0" y="4370832"/>
            <a:ext cx="0" cy="201168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92240" y="457200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547104" y="457200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returned up the tree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69680" y="2734056"/>
            <a:ext cx="1600200" cy="374904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9189720" y="2807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281160" y="3108960"/>
            <a:ext cx="2377440" cy="530352"/>
          </a:xfrm>
          <a:prstGeom prst="roundRect">
            <a:avLst>
              <a:gd name="adj" fmla="val 17241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336024" y="3108960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Moves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(hash move → MVV-LVA → promo)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469880" y="3639312"/>
            <a:ext cx="0" cy="201168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281160" y="3840480"/>
            <a:ext cx="2377440" cy="530352"/>
          </a:xfrm>
          <a:prstGeom prst="roundRect">
            <a:avLst>
              <a:gd name="adj" fmla="val 17241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9336024" y="3840480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Alpha-Beta Cut-off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(prune when α ≥ β)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469880" y="4370832"/>
            <a:ext cx="0" cy="201168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281160" y="457200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9336024" y="457200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Recurse on child (depth − 1)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1658600" y="4800600"/>
            <a:ext cx="137160" cy="0"/>
          </a:xfrm>
          <a:prstGeom prst="line">
            <a:avLst/>
          </a:prstGeom>
          <a:noFill/>
          <a:ln w="12700">
            <a:solidFill>
              <a:srgbClr val="3465A4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11795760" y="2450592"/>
            <a:ext cx="0" cy="2350008"/>
          </a:xfrm>
          <a:prstGeom prst="line">
            <a:avLst/>
          </a:prstGeom>
          <a:noFill/>
          <a:ln w="12700">
            <a:solidFill>
              <a:srgbClr val="3465A4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1658600" y="2450592"/>
            <a:ext cx="137160" cy="0"/>
          </a:xfrm>
          <a:prstGeom prst="line">
            <a:avLst/>
          </a:prstGeom>
          <a:noFill/>
          <a:ln w="12700">
            <a:solidFill>
              <a:srgbClr val="3465A4"/>
            </a:solidFill>
            <a:prstDash val="dash"/>
            <a:headEnd type="triangle"/>
          </a:ln>
        </p:spPr>
      </p:sp>
      <p:sp>
        <p:nvSpPr>
          <p:cNvPr id="46" name="Shape 44"/>
          <p:cNvSpPr/>
          <p:nvPr/>
        </p:nvSpPr>
        <p:spPr>
          <a:xfrm>
            <a:off x="7680960" y="5029200"/>
            <a:ext cx="0" cy="274320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492240" y="5303520"/>
            <a:ext cx="5166360" cy="457200"/>
          </a:xfrm>
          <a:prstGeom prst="roundRect">
            <a:avLst>
              <a:gd name="adj" fmla="val 20000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6547104" y="5303520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Best Move  •  Search Depth  •  Nodes Expanded  •  Evaluation Score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/ Block Diagram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ARCHITECTURE  (as implemented)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" y="1280160"/>
            <a:ext cx="2011680" cy="1234440"/>
          </a:xfrm>
          <a:prstGeom prst="roundRect">
            <a:avLst>
              <a:gd name="adj" fmla="val 11111"/>
            </a:avLst>
          </a:prstGeom>
          <a:solidFill>
            <a:srgbClr val="F2F6FA"/>
          </a:solidFill>
          <a:ln w="15875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2920" y="1280160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board.js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FEN, side to move,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castling, en passant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441448" y="1892808"/>
            <a:ext cx="320040" cy="0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61488" y="1280160"/>
            <a:ext cx="2011680" cy="1234440"/>
          </a:xfrm>
          <a:prstGeom prst="roundRect">
            <a:avLst>
              <a:gd name="adj" fmla="val 11111"/>
            </a:avLst>
          </a:prstGeom>
          <a:solidFill>
            <a:srgbClr val="F2F6FA"/>
          </a:solidFill>
          <a:ln w="15875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34640" y="1280160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GENERATION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moveGen.js · move.js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Pseudo-legal moves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legality filter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73168" y="1892808"/>
            <a:ext cx="320040" cy="0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93208" y="1280160"/>
            <a:ext cx="2011680" cy="1234440"/>
          </a:xfrm>
          <a:prstGeom prst="roundRect">
            <a:avLst>
              <a:gd name="adj" fmla="val 11111"/>
            </a:avLst>
          </a:prstGeom>
          <a:solidFill>
            <a:srgbClr val="F2F6FA"/>
          </a:solidFill>
          <a:ln w="15875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66360" y="1280160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search.js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Deepening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Negamax α-β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104888" y="1892808"/>
            <a:ext cx="320040" cy="0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24928" y="1280160"/>
            <a:ext cx="2011680" cy="1234440"/>
          </a:xfrm>
          <a:prstGeom prst="roundRect">
            <a:avLst>
              <a:gd name="adj" fmla="val 11111"/>
            </a:avLst>
          </a:prstGeom>
          <a:solidFill>
            <a:srgbClr val="F2F6FA"/>
          </a:solidFill>
          <a:ln w="15875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0" y="1280160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evaluation.js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Quiescence leaves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+ 5-term heuristic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436608" y="1892808"/>
            <a:ext cx="320040" cy="0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56648" y="1280160"/>
            <a:ext cx="2011680" cy="1234440"/>
          </a:xfrm>
          <a:prstGeom prst="roundRect">
            <a:avLst>
              <a:gd name="adj" fmla="val 11111"/>
            </a:avLst>
          </a:prstGeom>
          <a:solidFill>
            <a:srgbClr val="F2F6FA"/>
          </a:solidFill>
          <a:ln w="15875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829800" y="1280160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UI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move, eval bar,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telemetry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99048" y="2514600"/>
            <a:ext cx="0" cy="320040"/>
          </a:xfrm>
          <a:prstGeom prst="line">
            <a:avLst/>
          </a:prstGeom>
          <a:noFill/>
          <a:ln w="15875">
            <a:solidFill>
              <a:srgbClr val="3465A4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727448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SUPPORT MODULES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99048" y="3108960"/>
            <a:ext cx="0" cy="182880"/>
          </a:xfrm>
          <a:prstGeom prst="line">
            <a:avLst/>
          </a:prstGeom>
          <a:noFill/>
          <a:ln w="15875">
            <a:solidFill>
              <a:srgbClr val="3465A4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901952" y="3291840"/>
            <a:ext cx="8394192" cy="0"/>
          </a:xfrm>
          <a:prstGeom prst="line">
            <a:avLst/>
          </a:prstGeom>
          <a:noFill/>
          <a:ln w="12700">
            <a:solidFill>
              <a:srgbClr val="3465A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901952" y="3291840"/>
            <a:ext cx="0" cy="228600"/>
          </a:xfrm>
          <a:prstGeom prst="line">
            <a:avLst/>
          </a:prstGeom>
          <a:noFill/>
          <a:ln w="15875">
            <a:solidFill>
              <a:srgbClr val="3465A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76656" y="3520440"/>
            <a:ext cx="2450592" cy="1005840"/>
          </a:xfrm>
          <a:prstGeom prst="roundRect">
            <a:avLst>
              <a:gd name="adj" fmla="val 1090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49808" y="352044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Ordering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move → MVV-LVA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→ promotions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0016" y="3291840"/>
            <a:ext cx="0" cy="228600"/>
          </a:xfrm>
          <a:prstGeom prst="line">
            <a:avLst/>
          </a:prstGeom>
          <a:noFill/>
          <a:ln w="15875">
            <a:solidFill>
              <a:srgbClr val="3465A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474720" y="3520440"/>
            <a:ext cx="2450592" cy="1005840"/>
          </a:xfrm>
          <a:prstGeom prst="roundRect">
            <a:avLst>
              <a:gd name="adj" fmla="val 1090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3547872" y="352044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Transposition Table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64-bit Zobrist keys,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/ α / β bounds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98080" y="3291840"/>
            <a:ext cx="0" cy="228600"/>
          </a:xfrm>
          <a:prstGeom prst="line">
            <a:avLst/>
          </a:prstGeom>
          <a:noFill/>
          <a:ln w="15875">
            <a:solidFill>
              <a:srgbClr val="3465A4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72784" y="3520440"/>
            <a:ext cx="2450592" cy="1005840"/>
          </a:xfrm>
          <a:prstGeom prst="roundRect">
            <a:avLst>
              <a:gd name="adj" fmla="val 1090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345936" y="352044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Quiescence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only at the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 (horizon effect)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296144" y="3291840"/>
            <a:ext cx="0" cy="228600"/>
          </a:xfrm>
          <a:prstGeom prst="line">
            <a:avLst/>
          </a:prstGeom>
          <a:noFill/>
          <a:ln w="15875">
            <a:solidFill>
              <a:srgbClr val="3465A4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9070848" y="3520440"/>
            <a:ext cx="2450592" cy="1005840"/>
          </a:xfrm>
          <a:prstGeom prst="roundRect">
            <a:avLst>
              <a:gd name="adj" fmla="val 10909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144000" y="352044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Terms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Material, piece-square,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pawns, king safety, mobility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76656" y="4846320"/>
            <a:ext cx="10844784" cy="566928"/>
          </a:xfrm>
          <a:prstGeom prst="roundRect">
            <a:avLst>
              <a:gd name="adj" fmla="val 16129"/>
            </a:avLst>
          </a:prstGeom>
          <a:solidFill>
            <a:srgbClr val="E9EFF7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68096" y="4846320"/>
            <a:ext cx="10661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CROSS-CUTTING:  Web Worker (off-thread search)  •  Perft Validation  •  Repetition Awareness  •  Teaching Mode  •  GitHub Actions → Firebase Hosting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76656" y="5623560"/>
            <a:ext cx="10844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client-side: the React UI posts a board snapshot to the engine worker, which streams each search iteration back — no backend, no external chess library.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051560"/>
            <a:ext cx="3474720" cy="2240280"/>
          </a:xfrm>
          <a:prstGeom prst="roundRect">
            <a:avLst>
              <a:gd name="adj" fmla="val 7347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280160"/>
            <a:ext cx="502920" cy="50292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1280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State-Space Formulation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194767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as states, legal moves as actions, make-move as the transition function; terminal test for checkmate and stalemate.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361688" y="1051560"/>
            <a:ext cx="3474720" cy="2240280"/>
          </a:xfrm>
          <a:prstGeom prst="roundRect">
            <a:avLst>
              <a:gd name="adj" fmla="val 7347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0288" y="1280160"/>
            <a:ext cx="502920" cy="50292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028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1280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Generation &amp; Validation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194767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Pseudo-legal moves per piece, legality filter for king safety; plain-minimax node count checked against cumulative perft.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156448" y="1051560"/>
            <a:ext cx="3474720" cy="2240280"/>
          </a:xfrm>
          <a:prstGeom prst="roundRect">
            <a:avLst>
              <a:gd name="adj" fmla="val 7347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85048" y="1280160"/>
            <a:ext cx="502920" cy="50292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8504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25128" y="1280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Evaluation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85048" y="194767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score from material, piece-square tables, centre control, mobility, pawn structure and king safety.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66928" y="3611880"/>
            <a:ext cx="3474720" cy="2240280"/>
          </a:xfrm>
          <a:prstGeom prst="roundRect">
            <a:avLst>
              <a:gd name="adj" fmla="val 7347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5528" y="3840480"/>
            <a:ext cx="502920" cy="50292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35608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Search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450799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Negamax with Alpha-Beta Pruning, driven by Iterative Deepening so a best move is ready within the time budget.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4361688" y="3611880"/>
            <a:ext cx="3474720" cy="2240280"/>
          </a:xfrm>
          <a:prstGeom prst="roundRect">
            <a:avLst>
              <a:gd name="adj" fmla="val 7347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90288" y="3840480"/>
            <a:ext cx="502920" cy="50292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90288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230368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Optimisation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90288" y="450799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MVV-LVA move ordering, Zobrist transposition table and Quiescence Search to beat the horizon effect.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8156448" y="3611880"/>
            <a:ext cx="3474720" cy="2240280"/>
          </a:xfrm>
          <a:prstGeom prst="roundRect">
            <a:avLst>
              <a:gd name="adj" fmla="val 7347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85048" y="3840480"/>
            <a:ext cx="502920" cy="50292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85048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025128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&amp; Analysis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385048" y="4507992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move, depth, nodes and score streamed live; teaching mode compares nodes and time across configurations.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" y="1005840"/>
          <a:ext cx="11018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753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465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Programming Language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(ES modules) — engine and interface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465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 / Library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+ Vite 8, vanilla CSS, inline SVG pieces; no external chess library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465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 Runtime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Worker — search runs off the main thread so the UI never freezes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465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Negamax + Alpha-Beta, Iterative Deepening, Quiescence, MVV-LVA ordering, Zobrist TT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465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Perft — plain-minimax node count must equal cumulative perft; α-β must match minimax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465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+ GitHub Actions CI/CD → Firebase Hosting (foai-chess-engine.web.app)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465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 / IDE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 Code, Git &amp; GitHub, any modern web browser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3465A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laptop or phone with a modern browser; no GPU, no server required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932688"/>
            <a:ext cx="5257800" cy="1572768"/>
          </a:xfrm>
          <a:prstGeom prst="roundRect">
            <a:avLst>
              <a:gd name="adj" fmla="val 8721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04241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– Board Representation &amp; Move Generation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3898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board.js · moveGen.js · move.js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682496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 parsing, make / unmake, legal moves with castling, en passant and promotion; exact position keys for threefold repetition.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932688"/>
            <a:ext cx="5257800" cy="1572768"/>
          </a:xfrm>
          <a:prstGeom prst="roundRect">
            <a:avLst>
              <a:gd name="adj" fmla="val 8721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104241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– Heuristic Evaluation Function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3898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evaluation.js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1682496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(P 100 · N 320 · B 330 · R 500 · Q 900), piece-square tables, pawn structure, king safety and mobility, with a per-term breakdown.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2715768"/>
            <a:ext cx="5257800" cy="1572768"/>
          </a:xfrm>
          <a:prstGeom prst="roundRect">
            <a:avLst>
              <a:gd name="adj" fmla="val 8721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282549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– Adversarial Search Engine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17296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search.js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465576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Negamax with Alpha-Beta, Iterative Deepening from depth 1 to 12 inside a 2 s budget, distance-adjusted mate scores, repetition-aware.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2715768"/>
            <a:ext cx="5257800" cy="1572768"/>
          </a:xfrm>
          <a:prstGeom prst="roundRect">
            <a:avLst>
              <a:gd name="adj" fmla="val 8721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0" y="282549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– Search Optimisation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17296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transposition.js · teachingSearch.js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465576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Zobrist transposition table, hash-move + MVV-LVA ordering, capture-only quiescence; null-move pruning in teaching mode.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498848"/>
            <a:ext cx="10927080" cy="1572768"/>
          </a:xfrm>
          <a:prstGeom prst="roundRect">
            <a:avLst>
              <a:gd name="adj" fmla="val 8721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4608576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– Interface, Teaching Mode &amp; Deployment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956048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 · components/ · worker.js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248656"/>
            <a:ext cx="10378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screen with evaluation bar, telemetry console, move history and undo; teaching mode comparing search configurations; Web Worker; Firebase Hosting via GitHub Actions.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– Play Screen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6967728" cy="4901184"/>
          </a:xfrm>
          <a:prstGeom prst="rect">
            <a:avLst/>
          </a:prstGeom>
          <a:solidFill>
            <a:srgbClr val="2B2926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6876288" cy="4809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5916168"/>
            <a:ext cx="6967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game against the engine — depth 6, 229,016 nodes and the per-iteration log in a 2 s move.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100584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either colour; click a piece to see its legal moves; promotion lets you choose the piece.</a:t>
            </a:r>
            <a:endParaRPr lang="en-US" sz="15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evaluation bar and captured-material lead for each side.</a:t>
            </a:r>
            <a:endParaRPr lang="en-US" sz="15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console streams every iterative-deepening pass: depth, score, nodes and best move.</a:t>
            </a:r>
            <a:endParaRPr lang="en-US" sz="15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checkmate, stalemate, fifty-move rule, insufficient material and threefold repetition.</a:t>
            </a:r>
            <a:endParaRPr lang="en-US" sz="15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runs in a Web Worker, so the board never freezes while the engine thinks.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772400" y="4983480"/>
            <a:ext cx="3931920" cy="877824"/>
          </a:xfrm>
          <a:prstGeom prst="roundRect">
            <a:avLst>
              <a:gd name="adj" fmla="val 10417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4983480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r>
              <a:rPr lang="en-US" sz="1300" u="sng" dirty="0">
                <a:solidFill>
                  <a:srgbClr val="3465A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foai-chess-engine.web.app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3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</a:t>
            </a:r>
            <a:r>
              <a:rPr lang="en-US" sz="1300" u="sng" dirty="0">
                <a:solidFill>
                  <a:srgbClr val="3465A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github.com/SaIdEeVaN/FOAI-Project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– Teaching Mode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6821424" cy="4965192"/>
          </a:xfrm>
          <a:prstGeom prst="rect">
            <a:avLst/>
          </a:prstGeom>
          <a:solidFill>
            <a:srgbClr val="2B2926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6729984" cy="4873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5961888"/>
            <a:ext cx="6821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position, fixed depth 5 — all three configurations agree on e2e4.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005840"/>
            <a:ext cx="40690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the current game position and searches it at a fixed depth of 5 under three configurations.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techniques toggle independently: Alpha-Beta, move ordering, transposition table, quiescence and null-move pruning.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nodes, time and cost relative to plain Minimax, and checks that every configuration picks the same move.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static evaluation into its five terms with signed bars.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passing 60 s stops and reports a lower bound (≥) instead of hanging.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/ Expected Results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" y="960120"/>
            <a:ext cx="5623560" cy="5166360"/>
          </a:xfrm>
          <a:prstGeom prst="roundRect">
            <a:avLst>
              <a:gd name="adj" fmla="val 5310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THE PROTOTYPE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508760"/>
            <a:ext cx="51206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generator verified: </a:t>
            </a: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Minimax visits 5,072,213 nodes — exactly Σ perft(0..5) = 1 + 20 + 400 + 8,902 + 197,281 + 4,865,609.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works: </a:t>
            </a: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needs 45× fewer nodes, and MVV-LVA + TT 87× fewer — with the same move and score.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nodes ≠ less time: </a:t>
            </a: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TT configuration takes 0.77 s vs 0.69 s, because every node pays for a Zobrist hash.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tuned: </a:t>
            </a: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depth-5 plain Minimax fell from 110.2 s to 13.6 s (8.1×) with identical nodes, moves and scores.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play: </a:t>
            </a:r>
            <a:r>
              <a:rPr lang="en-US" sz="15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nodes/s, depth 6 in the opening within the 2 s budget; repetition awareness costs only 2–5 %.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5321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position, one core. Node counts are exact; timings are from the project README and vary by machine.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960120"/>
            <a:ext cx="5166360" cy="5166360"/>
          </a:xfrm>
          <a:prstGeom prst="roundRect">
            <a:avLst>
              <a:gd name="adj" fmla="val 5310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graphicFrame>
        <p:nvGraphicFramePr>
          <p:cNvPr id="11" name="Chart 0" descr=""/>
          <p:cNvGraphicFramePr/>
          <p:nvPr/>
        </p:nvGraphicFramePr>
        <p:xfrm>
          <a:off x="6629400" y="1097280"/>
          <a:ext cx="4800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675120" y="452628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65A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75120" y="45902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45×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51846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nodes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α-β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75320" y="452628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65A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45902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87×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51846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with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+ TT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875520" y="452628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65A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875520" y="45902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e2e4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9921240" y="51846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three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" y="1097280"/>
          <a:ext cx="11018520" cy="914400"/>
        </p:xfrm>
        <a:graphic>
          <a:graphicData uri="http://schemas.openxmlformats.org/drawingml/2006/table">
            <a:tbl>
              <a:tblPr/>
              <a:tblGrid>
                <a:gridCol w="3886200"/>
                <a:gridCol w="1371600"/>
                <a:gridCol w="1371600"/>
                <a:gridCol w="1371600"/>
                <a:gridCol w="137160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2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3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Survey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346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Identification &amp; State-Space Formulation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346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Design &amp; Architecture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346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346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(Move Gen, Search, Evaluation)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346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346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Optimisation, Interface &amp; Deployment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346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5F69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Testing, Benchmarking &amp; Final Evaluation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346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3465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14984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932688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and problem formulation completed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36192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453896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core modules defined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740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1975104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representation and legal move generator implemented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78608"/>
            <a:ext cx="292608" cy="29260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3000" y="2496312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Negamax α-β search with ID, quiescence, MVV-LVA and Zobrist TT</a:t>
            </a:r>
            <a:endParaRPr lang="en-US" sz="16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99816"/>
            <a:ext cx="292608" cy="29260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43000" y="301752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generator validated with perft (exact to depth 5)</a:t>
            </a:r>
            <a:endParaRPr lang="en-US" sz="16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621024"/>
            <a:ext cx="292608" cy="29260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143000" y="3538728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interface and teaching mode built and deployed on Firebase</a:t>
            </a:r>
            <a:endParaRPr lang="en-US" sz="16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142232"/>
            <a:ext cx="292608" cy="292608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143000" y="4059936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Threefold-repetition detection and repetition-aware search</a:t>
            </a:r>
            <a:endParaRPr lang="en-US" sz="16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663440"/>
            <a:ext cx="292608" cy="292608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143000" y="4581144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strength benchmarking (Elo / head-to-head)</a:t>
            </a:r>
            <a:endParaRPr lang="en-US" sz="16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184648"/>
            <a:ext cx="292608" cy="292608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1143000" y="5102352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move notation and FEN entry in teaching mode</a:t>
            </a:r>
            <a:endParaRPr lang="en-US" sz="16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5705856"/>
            <a:ext cx="292608" cy="292608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1143000" y="562356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evaluation, report and documentation</a:t>
            </a:r>
            <a:endParaRPr lang="en-US" sz="1650" dirty="0"/>
          </a:p>
        </p:txBody>
      </p:sp>
      <p:sp>
        <p:nvSpPr>
          <p:cNvPr id="26" name="Shape 14"/>
          <p:cNvSpPr/>
          <p:nvPr/>
        </p:nvSpPr>
        <p:spPr>
          <a:xfrm>
            <a:off x="7680960" y="1005840"/>
            <a:ext cx="3931920" cy="4937760"/>
          </a:xfrm>
          <a:prstGeom prst="roundRect">
            <a:avLst>
              <a:gd name="adj" fmla="val 5814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27" name="Text 15"/>
          <p:cNvSpPr txBox="1"/>
          <p:nvPr/>
        </p:nvSpPr>
        <p:spPr>
          <a:xfrm>
            <a:off x="7680960" y="13716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1F3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4000" b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10</a:t>
            </a:r>
            <a:endParaRPr lang="en-US" sz="8800" dirty="0"/>
          </a:p>
        </p:txBody>
      </p:sp>
      <p:sp>
        <p:nvSpPr>
          <p:cNvPr id="28" name="Text 16"/>
          <p:cNvSpPr txBox="1"/>
          <p:nvPr/>
        </p:nvSpPr>
        <p:spPr>
          <a:xfrm>
            <a:off x="7680960" y="2834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complete</a:t>
            </a:r>
            <a:endParaRPr lang="en-US" sz="1800" dirty="0"/>
          </a:p>
        </p:txBody>
      </p:sp>
      <p:sp>
        <p:nvSpPr>
          <p:cNvPr id="29" name="Text 17"/>
          <p:cNvSpPr txBox="1"/>
          <p:nvPr/>
        </p:nvSpPr>
        <p:spPr>
          <a:xfrm>
            <a:off x="7955280" y="34747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46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is already live — remaining work is benchmarking, polish and the final evaluation.</a:t>
            </a:r>
            <a:endParaRPr lang="en-US" sz="1500" dirty="0"/>
          </a:p>
        </p:txBody>
      </p:sp>
      <p:sp>
        <p:nvSpPr>
          <p:cNvPr id="30" name="Text 18">
            <a:hlinkClick r:id="rId11" tooltip=""/>
          </p:cNvPr>
          <p:cNvSpPr txBox="1"/>
          <p:nvPr/>
        </p:nvSpPr>
        <p:spPr>
          <a:xfrm>
            <a:off x="7680960" y="5074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F3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foai-chess-engine.web.app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78408" y="1371600"/>
            <a:ext cx="0" cy="3886200"/>
          </a:xfrm>
          <a:prstGeom prst="line">
            <a:avLst/>
          </a:prstGeom>
          <a:noFill/>
          <a:ln w="15875">
            <a:solidFill>
              <a:srgbClr val="3465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097280"/>
            <a:ext cx="502920" cy="502920"/>
          </a:xfrm>
          <a:prstGeom prst="ellipse">
            <a:avLst/>
          </a:prstGeom>
          <a:solidFill>
            <a:srgbClr val="1F37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0058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playing strength — an Elo estimate from fixed-time matches against reference engines.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2075688"/>
            <a:ext cx="502920" cy="502920"/>
          </a:xfrm>
          <a:prstGeom prst="ellipse">
            <a:avLst/>
          </a:prstGeom>
          <a:solidFill>
            <a:srgbClr val="1F37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19842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SAN move notation, and FEN entry in teaching mode to compare techniques on sharp tactical positions.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3054096"/>
            <a:ext cx="502920" cy="502920"/>
          </a:xfrm>
          <a:prstGeom prst="ellipse">
            <a:avLst/>
          </a:prstGeom>
          <a:solidFill>
            <a:srgbClr val="1F37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962656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null-move pruning into the game search, add a contempt setting for draws and a bounded transposition table.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4032504"/>
            <a:ext cx="502920" cy="502920"/>
          </a:xfrm>
          <a:prstGeom prst="ellipse">
            <a:avLst/>
          </a:prstGeom>
          <a:solidFill>
            <a:srgbClr val="1F37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94106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automated test suite — perft on further standard positions alongside the existing start-position check.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31520" y="5010912"/>
            <a:ext cx="502920" cy="502920"/>
          </a:xfrm>
          <a:prstGeom prst="ellipse">
            <a:avLst/>
          </a:prstGeom>
          <a:solidFill>
            <a:srgbClr val="1F37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010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9194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experiments across positions and depths, and prepare the final report and comparative evaluation.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1097280"/>
            <a:ext cx="64922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frames chess as a fully observable, deterministic, zero-sum adversarial state space solved by a goal-based agent.</a:t>
            </a:r>
            <a:endParaRPr lang="en-US" sz="18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from-scratch, interpretable engine — Alpha-Beta, Iterative Deepening, Quiescence, MVV-LVA and a Zobrist TT — is already working and deployed.</a:t>
            </a:r>
            <a:endParaRPr lang="en-US" sz="18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confirm the approach: Alpha-Beta cuts the depth-5 tree 45×, ordering + TT 87×, with the same move — and the plain node count matches perft exactly.</a:t>
            </a:r>
            <a:endParaRPr lang="en-US" sz="18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work is benchmarking, polish and the final evaluation, all without any machine learning.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543800" y="1097280"/>
            <a:ext cx="4069080" cy="1325880"/>
          </a:xfrm>
          <a:prstGeom prst="roundRect">
            <a:avLst>
              <a:gd name="adj" fmla="val 10345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0" y="1444752"/>
            <a:ext cx="640080" cy="64008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4" y="159105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41080" y="13533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machine learning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17556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classical search and heuristics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543800" y="2697480"/>
            <a:ext cx="4069080" cy="1325880"/>
          </a:xfrm>
          <a:prstGeom prst="roundRect">
            <a:avLst>
              <a:gd name="adj" fmla="val 10345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0" y="3044952"/>
            <a:ext cx="640080" cy="64008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319125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641080" y="29535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chess library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8641080" y="33558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built from first principles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7543800" y="4297680"/>
            <a:ext cx="4069080" cy="1325880"/>
          </a:xfrm>
          <a:prstGeom prst="roundRect">
            <a:avLst>
              <a:gd name="adj" fmla="val 10345"/>
            </a:avLst>
          </a:prstGeom>
          <a:solidFill>
            <a:srgbClr val="F2F6FA"/>
          </a:solidFill>
          <a:ln w="12700">
            <a:solidFill>
              <a:srgbClr val="3465A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0" y="4645152"/>
            <a:ext cx="640080" cy="64008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479145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641080" y="45537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6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interpretable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641080" y="49560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Depth, nodes and score shown live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  |  Project Review – 1  |  2026–2027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097280"/>
            <a:ext cx="10789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Shannon, C. E. (1950). Programming a Computer for Playing Chess. Philosophical Magazine, Series 7, 41(314), 256–275.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Zobrist, A. L. (1970). A New Hashing Method with Application for Game Playing. Technical Report No. 88, University of Wisconsin.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Knuth, D. E., &amp; Moore, R. W. (1975). An Analysis of Alpha-Beta Pruning. Artificial Intelligence, 6(4), 293–326.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Korf, R. E. (1985). Depth-First Iterative-Deepening: An Optimal Admissible Tree Search. Artificial Intelligence, 27(1), 97–109.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Campbell, M., Hoane, A. J., &amp; Hsu, F. (2002). Deep Blue. Artificial Intelligence, 134(1–2), 57–83.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Coulom, R. (2006). Efficient Selectivity and Backup Operators in Monte-Carlo Tree Search. Computers and Games, LNCS 4630, 72–83.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5F6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Russell, S., &amp; Norvig, P. (2020). Artificial Intelligence: A Modern Approach (4th ed.). Pearson – Adversarial Search and Games.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State-Space Optimization in Chess Environments – Review 1</dc:title>
  <dc:subject>PptxGenJS Presentation</dc:subject>
  <dc:creator>PptxGenJS</dc:creator>
  <cp:lastModifiedBy>PptxGenJS</cp:lastModifiedBy>
  <cp:revision>1</cp:revision>
  <dcterms:created xsi:type="dcterms:W3CDTF">2026-09-24T07:22:08Z</dcterms:created>
  <dcterms:modified xsi:type="dcterms:W3CDTF">2026-09-24T07:22:08Z</dcterms:modified>
</cp:coreProperties>
</file>
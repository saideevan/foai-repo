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4" r:id="rId7"/>
    <p:sldId id="272" r:id="rId8"/>
    <p:sldId id="273" r:id="rId9"/>
    <p:sldId id="260" r:id="rId10"/>
    <p:sldId id="268" r:id="rId11"/>
    <p:sldId id="275" r:id="rId12"/>
    <p:sldId id="261" r:id="rId13"/>
    <p:sldId id="262" r:id="rId14"/>
    <p:sldId id="269" r:id="rId15"/>
    <p:sldId id="263" r:id="rId16"/>
    <p:sldId id="270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308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7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8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foai-chess-engine.web.app" TargetMode="External"/><Relationship Id="rId3" Type="http://schemas.openxmlformats.org/officeDocument/2006/relationships/hyperlink" Target="https://github.com/SaIdEeVaN/FOAI-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18288" tIns="18288" rIns="18288" bIns="18288" rtlCol="0" anchor="ctr" wrap="square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50" b="1">
                <a:solidFill>
                  <a:srgbClr val="6F3098"/>
                </a:solidFill>
                <a:latin typeface="Arial"/>
              </a:rPr>
              <a:t>ADVERSARIAL STATE-SPACE OPTIMIZATION</a:t>
            </a:r>
          </a:p>
          <a:p>
            <a:pPr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50" b="1">
                <a:solidFill>
                  <a:srgbClr val="6F3098"/>
                </a:solidFill>
                <a:latin typeface="Arial"/>
              </a:rPr>
              <a:t>IN CHESS ENVIRONMENTS | MODEL REVIEW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89" y="5175504"/>
            <a:ext cx="3429000" cy="950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" rIns="9144" tIns="9144" bIns="9144">
            <a:no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sz="1800" b="1">
                <a:solidFill>
                  <a:srgbClr val="C10000"/>
                </a:solidFill>
                <a:latin typeface="Arial"/>
              </a:rPr>
              <a:t>Supervisor: Dr. S. Bhuvana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C10000"/>
                </a:solidFill>
                <a:latin typeface="Arial"/>
              </a:rPr>
              <a:t>Assistant Professor (SG)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8079" y="5102352"/>
            <a:ext cx="3986784" cy="1115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" rIns="9144" tIns="9144" bIns="9144">
            <a:no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sz="1600" b="1">
                <a:solidFill>
                  <a:srgbClr val="C10000"/>
                </a:solidFill>
                <a:latin typeface="Arial"/>
              </a:rPr>
              <a:t>Team members: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0000"/>
                </a:solidFill>
                <a:latin typeface="Arial"/>
              </a:rPr>
              <a:t>Baviri Setty Sai Deevan (241901016)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0000"/>
                </a:solidFill>
                <a:latin typeface="Arial"/>
              </a:rPr>
              <a:t>Monish Priyan M (241901057)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783080"/>
            <a:ext cx="10241280" cy="79540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Chess has an enormous search space. Exhaustive Minimax is impractical at useful depths, especially under a move clock.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52222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52222"/>
            <a:ext cx="10241280" cy="79540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Unstable positions create a horizon effect: stopping halfway through captures can make an unsafe move look attractive.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21364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21364"/>
            <a:ext cx="10241280" cy="79540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Existing engines can be powerful but often depend on learned evaluation or hide how pruning and caching influence each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90506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690506"/>
            <a:ext cx="10241280" cy="79540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Our goal is a self-built, explainable classical-AI chess engine that plays legally, searches efficiently, and shows its work.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783080"/>
            <a:ext cx="10241280" cy="78857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Formulate chess using AI state-space concepts: legal actions, state transitions, terminal states and a rational adversary.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45394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45394"/>
            <a:ext cx="10241280" cy="78857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Implement the board, rules and five-part evaluation function from scratch, without ML, external chess libraries or datasets.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07709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07709"/>
            <a:ext cx="10241280" cy="78857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Build efficient, time-aware search using Negamax, Alpha-Beta, iterative deepening, quiescence, move ordering and a fixed transposition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70023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670023"/>
            <a:ext cx="10241280" cy="78857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Demonstrate and validate the system. Achieved: 7 / 7 standard perft sets, 53 automated tests and 79 / 79 exact-search comparisons.</a:t>
            </a:r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Abstract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783080"/>
            <a:ext cx="10241280" cy="798819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Chess is a fully observable, deterministic, zero-sum game. Our agent searches future moves to choose a response.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64779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64779"/>
            <a:ext cx="10241280" cy="798819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The custom rules engine generates legal moves, while five hand-crafted terms evaluate each position.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46479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46479"/>
            <a:ext cx="10241280" cy="798819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Negamax and Alpha-Beta combine with iterative deepening, quiescence, move ordering, hashing and null-move pruning.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728179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728179"/>
            <a:ext cx="10241280" cy="798819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The browser displays moves, depth, nodes and scores. Perft, automated tests and matches validate the engine.</a:t>
            </a:r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29797"/>
              </p:ext>
            </p:extLst>
          </p:nvPr>
        </p:nvGraphicFramePr>
        <p:xfrm>
          <a:off x="623392" y="1752600"/>
          <a:ext cx="11089233" cy="3692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4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2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354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No.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Author(s), Year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Paper Title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Method / Algorithm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Limitations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20" b="1">
                          <a:solidFill>
                            <a:srgbClr val="1F2D3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1F2D3E"/>
                          </a:solidFill>
                          <a:latin typeface="Arial"/>
                        </a:rPr>
                        <a:t>Shannon (1950)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1F2D3E"/>
                          </a:solidFill>
                          <a:latin typeface="Arial"/>
                        </a:rPr>
                        <a:t>Programming a Computer for Playing Chess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1F2D3E"/>
                          </a:solidFill>
                          <a:latin typeface="Arial"/>
                        </a:rPr>
                        <a:t>Minimax + static evaluation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1F2D3E"/>
                          </a:solidFill>
                          <a:latin typeface="Arial"/>
                        </a:rPr>
                        <a:t>Full-width trees grow exponentially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20" b="1">
                          <a:solidFill>
                            <a:srgbClr val="1F2D3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R="45720" marT="64008" anchor="ctr" marL="64008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1F2D3E"/>
                          </a:solidFill>
                          <a:latin typeface="Arial"/>
                        </a:rPr>
                        <a:t>Zobrist (1970)</a:t>
                      </a:r>
                    </a:p>
                  </a:txBody>
                  <a:tcPr marR="45720" marT="64008" anchor="ctr" marL="64008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1F2D3E"/>
                          </a:solidFill>
                          <a:latin typeface="Arial"/>
                        </a:rPr>
                        <a:t>A New Hashing Method with Application for Game Playing</a:t>
                      </a:r>
                    </a:p>
                  </a:txBody>
                  <a:tcPr marR="45720" marT="64008" anchor="ctr" marL="64008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1F2D3E"/>
                          </a:solidFill>
                          <a:latin typeface="Arial"/>
                        </a:rPr>
                        <a:t>XOR-based position keys</a:t>
                      </a:r>
                    </a:p>
                  </a:txBody>
                  <a:tcPr marR="45720" marT="64008" anchor="ctr" marL="64008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1F2D3E"/>
                          </a:solidFill>
                          <a:latin typeface="Arial"/>
                        </a:rPr>
                        <a:t>Collisions; bounded storage needed</a:t>
                      </a:r>
                    </a:p>
                  </a:txBody>
                  <a:tcPr marR="45720" marT="64008" anchor="ctr" marL="64008" marB="27432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20" b="1">
                          <a:solidFill>
                            <a:srgbClr val="1F2D3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1F2D3E"/>
                          </a:solidFill>
                          <a:latin typeface="Arial"/>
                        </a:rPr>
                        <a:t>Knuth &amp; Moore (1975)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1F2D3E"/>
                          </a:solidFill>
                          <a:latin typeface="Arial"/>
                        </a:rPr>
                        <a:t>An Analysis of Alpha-Beta Pruning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1F2D3E"/>
                          </a:solidFill>
                          <a:latin typeface="Arial"/>
                        </a:rPr>
                        <a:t>Formal Alpha-Beta analysis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20" b="0">
                          <a:solidFill>
                            <a:srgbClr val="1F2D3E"/>
                          </a:solidFill>
                          <a:latin typeface="Arial"/>
                        </a:rPr>
                        <a:t>Benefit depends on move ordering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669280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5D6875"/>
                </a:solidFill>
                <a:latin typeface="Arial"/>
              </a:rPr>
              <a:t>Sources and limitations adapted from Phase I Report, literature review (Table 2.1).</a:t>
            </a:r>
          </a:p>
        </p:txBody>
      </p:sp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234421"/>
              </p:ext>
            </p:extLst>
          </p:nvPr>
        </p:nvGraphicFramePr>
        <p:xfrm>
          <a:off x="983432" y="1746251"/>
          <a:ext cx="10748320" cy="2426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2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3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5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43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No.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Author(s), Year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Paper Title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Method / Algorithm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Limitations</a:t>
                      </a:r>
                    </a:p>
                  </a:txBody>
                  <a:tcPr marR="45720" marT="64008" anchor="ctr" marL="64008" marB="27432">
                    <a:solidFill>
                      <a:srgbClr val="0D2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1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10" b="1">
                          <a:solidFill>
                            <a:srgbClr val="1F2D3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10" b="0">
                          <a:solidFill>
                            <a:srgbClr val="1F2D3E"/>
                          </a:solidFill>
                          <a:latin typeface="Arial"/>
                        </a:rPr>
                        <a:t>Beal (1990)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10" b="0">
                          <a:solidFill>
                            <a:srgbClr val="1F2D3E"/>
                          </a:solidFill>
                          <a:latin typeface="Arial"/>
                        </a:rPr>
                        <a:t>A Generalised Quiescence Search Algorithm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10" b="0">
                          <a:solidFill>
                            <a:srgbClr val="1F2D3E"/>
                          </a:solidFill>
                          <a:latin typeface="Arial"/>
                        </a:rPr>
                        <a:t>Selective search of tactical leaves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10" b="0">
                          <a:solidFill>
                            <a:srgbClr val="1F2D3E"/>
                          </a:solidFill>
                          <a:latin typeface="Arial"/>
                        </a:rPr>
                        <a:t>Extra search effort; checks remain a challenge</a:t>
                      </a:r>
                    </a:p>
                  </a:txBody>
                  <a:tcPr marR="45720" marT="64008" anchor="ctr" marL="64008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1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10" b="1">
                          <a:solidFill>
                            <a:srgbClr val="1F2D3E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R="45720" marT="64008" anchor="ctr" marL="64008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10" b="0">
                          <a:solidFill>
                            <a:srgbClr val="1F2D3E"/>
                          </a:solidFill>
                          <a:latin typeface="Arial"/>
                        </a:rPr>
                        <a:t>Donninger (1993)</a:t>
                      </a:r>
                    </a:p>
                  </a:txBody>
                  <a:tcPr marR="45720" marT="64008" anchor="ctr" marL="64008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10" b="0">
                          <a:solidFill>
                            <a:srgbClr val="1F2D3E"/>
                          </a:solidFill>
                          <a:latin typeface="Arial"/>
                        </a:rPr>
                        <a:t>Null Move and Deep Search</a:t>
                      </a:r>
                    </a:p>
                  </a:txBody>
                  <a:tcPr marR="45720" marT="64008" anchor="ctr" marL="64008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10" b="0">
                          <a:solidFill>
                            <a:srgbClr val="1F2D3E"/>
                          </a:solidFill>
                          <a:latin typeface="Arial"/>
                        </a:rPr>
                        <a:t>Reduced-depth null-move pruning</a:t>
                      </a:r>
                    </a:p>
                  </a:txBody>
                  <a:tcPr marR="45720" marT="64008" anchor="ctr" marL="64008" marB="27432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10" b="0">
                          <a:solidFill>
                            <a:srgbClr val="1F2D3E"/>
                          </a:solidFill>
                          <a:latin typeface="Arial"/>
                        </a:rPr>
                        <a:t>Can fail in zugzwang and tactical traps</a:t>
                      </a:r>
                    </a:p>
                  </a:txBody>
                  <a:tcPr marR="45720" marT="64008" anchor="ctr" marL="64008" marB="27432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91646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5840" y="5166360"/>
            <a:ext cx="1014984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5D6875"/>
                </a:solidFill>
                <a:latin typeface="Arial"/>
              </a:rPr>
              <a:t>These studies motivate quiescence search and guarded null-move pruning in our engine.</a:t>
            </a:r>
          </a:p>
        </p:txBody>
      </p:sp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Research Gap/Existing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682496"/>
            <a:ext cx="5052318" cy="1554480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54864" rIns="164592" rtlCol="0" anchor="ctr" wrap="square" bIns="54864"/>
          <a:lstStyle/>
          <a:p>
            <a:pPr algn="l">
              <a:defRPr sz="1700" b="1">
                <a:solidFill>
                  <a:srgbClr val="193054"/>
                </a:solidFill>
                <a:latin typeface="Aptos Display"/>
              </a:defRPr>
              <a:spcAft>
                <a:spcPts val="600"/>
              </a:spcAft>
              <a:buNone/>
            </a:pPr>
            <a:r>
              <a:rPr sz="1880" b="1">
                <a:solidFill>
                  <a:srgbClr val="0D2A54"/>
                </a:solidFill>
                <a:latin typeface="Arial"/>
              </a:rPr>
              <a:t>1. Existing studies</a:t>
            </a:r>
          </a:p>
          <a:p>
            <a:pPr algn="l">
              <a:spcAft>
                <a:spcPts val="0"/>
              </a:spcAft>
              <a:buNone/>
            </a:pPr>
            <a:r>
              <a:rPr sz="1610" b="0">
                <a:solidFill>
                  <a:srgbClr val="1F2D3E"/>
                </a:solidFill>
                <a:latin typeface="Arial"/>
              </a:rPr>
              <a:t>Minimax searches against the opponent; Alpha-Beta, move ordering, hashing and selective search reduce effort.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/>
          <p:nvPr/>
        </p:nvSpPr>
        <p:spPr>
          <a:xfrm>
            <a:off x="6096000" y="1682496"/>
            <a:ext cx="5452872" cy="155448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54864" rIns="164592" rtlCol="0" anchor="ctr" wrap="square" bIns="54864"/>
          <a:lstStyle/>
          <a:p>
            <a:pPr algn="l">
              <a:defRPr sz="1700" b="1">
                <a:solidFill>
                  <a:srgbClr val="193054"/>
                </a:solidFill>
                <a:latin typeface="Aptos Display"/>
              </a:defRPr>
              <a:spcAft>
                <a:spcPts val="600"/>
              </a:spcAft>
              <a:buNone/>
            </a:pPr>
            <a:r>
              <a:rPr sz="1880" b="1">
                <a:solidFill>
                  <a:srgbClr val="0D2A54"/>
                </a:solidFill>
                <a:latin typeface="Arial"/>
              </a:rPr>
              <a:t>2. Limitations observed</a:t>
            </a:r>
          </a:p>
          <a:p>
            <a:pPr algn="l">
              <a:spcAft>
                <a:spcPts val="0"/>
              </a:spcAft>
              <a:buNone/>
            </a:pPr>
            <a:r>
              <a:rPr sz="1610" b="0">
                <a:solidFill>
                  <a:srgbClr val="1F2D3E"/>
                </a:solidFill>
                <a:latin typeface="Arial"/>
              </a:rPr>
              <a:t>Game trees remain huge; horizon errors persist. Neural engines and library-based demos do not isolate every decision.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/>
          <p:nvPr/>
        </p:nvSpPr>
        <p:spPr>
          <a:xfrm>
            <a:off x="766233" y="3621024"/>
            <a:ext cx="5177367" cy="1691640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54864" rIns="164592" rtlCol="0" anchor="ctr" wrap="square" bIns="54864"/>
          <a:lstStyle/>
          <a:p>
            <a:pPr algn="l">
              <a:defRPr sz="1700" b="1">
                <a:solidFill>
                  <a:srgbClr val="193054"/>
                </a:solidFill>
                <a:latin typeface="Aptos Display"/>
              </a:defRPr>
              <a:spcAft>
                <a:spcPts val="600"/>
              </a:spcAft>
              <a:buNone/>
            </a:pPr>
            <a:r>
              <a:rPr sz="1880" b="1">
                <a:solidFill>
                  <a:srgbClr val="0D2A54"/>
                </a:solidFill>
                <a:latin typeface="Arial"/>
              </a:rPr>
              <a:t>3. Research gap</a:t>
            </a:r>
          </a:p>
          <a:p>
            <a:pPr algn="l">
              <a:spcAft>
                <a:spcPts val="0"/>
              </a:spcAft>
              <a:buNone/>
            </a:pPr>
            <a:r>
              <a:rPr sz="1610" b="0">
                <a:solidFill>
                  <a:srgbClr val="1F2D3E"/>
                </a:solidFill>
                <a:latin typeface="Arial"/>
              </a:rPr>
              <a:t>Few classroom engines combine from-scratch rule validation, comparable search variants and an accessible explanation of search cost.</a:t>
            </a: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/>
          <p:nvPr/>
        </p:nvSpPr>
        <p:spPr>
          <a:xfrm>
            <a:off x="6199632" y="3621024"/>
            <a:ext cx="5349240" cy="169164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54864" rIns="164592" rtlCol="0" anchor="ctr" wrap="square" bIns="54864"/>
          <a:lstStyle/>
          <a:p>
            <a:pPr algn="l">
              <a:defRPr sz="1700" b="1">
                <a:solidFill>
                  <a:srgbClr val="193054"/>
                </a:solidFill>
                <a:latin typeface="Aptos Display"/>
              </a:defRPr>
              <a:spcAft>
                <a:spcPts val="600"/>
              </a:spcAft>
              <a:buNone/>
            </a:pPr>
            <a:r>
              <a:rPr sz="1880" b="1">
                <a:solidFill>
                  <a:srgbClr val="0D2A54"/>
                </a:solidFill>
                <a:latin typeface="Arial"/>
              </a:rPr>
              <a:t>4. Our response</a:t>
            </a:r>
          </a:p>
          <a:p>
            <a:pPr algn="l">
              <a:spcAft>
                <a:spcPts val="0"/>
              </a:spcAft>
              <a:buNone/>
            </a:pPr>
            <a:r>
              <a:rPr sz="1610" b="0">
                <a:solidFill>
                  <a:srgbClr val="1F2D3E"/>
                </a:solidFill>
                <a:latin typeface="Arial"/>
              </a:rPr>
              <a:t>We built a verified classical engine with teaching-mode comparisons, real-time telemetry and browser-based deployment.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C10000"/>
                </a:solidFill>
                <a:latin typeface="Arial"/>
              </a:rPr>
              <a:t>Proposed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2331720" cy="111556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2148839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D2A54"/>
                </a:solidFill>
                <a:latin typeface="Arial"/>
              </a:rPr>
              <a:t>React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68296"/>
            <a:ext cx="2075687" cy="612647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1F2D3E"/>
                </a:solidFill>
                <a:latin typeface="Arial"/>
              </a:rPr>
              <a:t>Board, clocks, SAN, FEN, teaching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920240"/>
            <a:ext cx="2267712" cy="111556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2029968"/>
            <a:ext cx="2084831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D2A54"/>
                </a:solidFill>
                <a:latin typeface="Arial"/>
              </a:rPr>
              <a:t>Web 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1335" y="2368296"/>
            <a:ext cx="2011680" cy="612647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1F2D3E"/>
                </a:solidFill>
                <a:latin typeface="Arial"/>
              </a:rPr>
              <a:t>Runs search off the UI thread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7104" y="1920240"/>
            <a:ext cx="2377440" cy="111556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2029968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20" b="1">
                <a:solidFill>
                  <a:srgbClr val="0D2A54"/>
                </a:solidFill>
                <a:latin typeface="Arial"/>
              </a:rPr>
              <a:t>Search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68296"/>
            <a:ext cx="2121408" cy="612647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80" b="0">
                <a:solidFill>
                  <a:srgbClr val="1F2D3E"/>
                </a:solidFill>
                <a:latin typeface="Arial"/>
              </a:rPr>
              <a:t>Iterative deepening + Negamax / Alpha-Beta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82328" y="1920240"/>
            <a:ext cx="2084831" cy="111556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73767" y="2029968"/>
            <a:ext cx="1901951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39" b="1">
                <a:solidFill>
                  <a:srgbClr val="0D2A54"/>
                </a:solidFill>
                <a:latin typeface="Arial"/>
              </a:rPr>
              <a:t>Move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0344" y="2368296"/>
            <a:ext cx="1828799" cy="612647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40" b="0">
                <a:solidFill>
                  <a:srgbClr val="1F2D3E"/>
                </a:solidFill>
                <a:latin typeface="Arial"/>
              </a:rPr>
              <a:t>Best move, score, depth and nodes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08960" y="2468880"/>
            <a:ext cx="594360" cy="0"/>
          </a:xfrm>
          <a:prstGeom prst="line">
            <a:avLst/>
          </a:prstGeom>
          <a:ln w="3048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>
            <a:off x="3557015" y="2377440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71032" y="2468880"/>
            <a:ext cx="576072" cy="0"/>
          </a:xfrm>
          <a:prstGeom prst="line">
            <a:avLst/>
          </a:prstGeom>
          <a:ln w="3048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6400800" y="2377440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924544" y="2468880"/>
            <a:ext cx="557784" cy="0"/>
          </a:xfrm>
          <a:prstGeom prst="line">
            <a:avLst/>
          </a:prstGeom>
          <a:ln w="3048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9336024" y="2377440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3840480"/>
            <a:ext cx="2331720" cy="1088136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50208"/>
            <a:ext cx="2148839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0" b="1">
                <a:solidFill>
                  <a:srgbClr val="0D2A54"/>
                </a:solidFill>
                <a:latin typeface="Arial"/>
              </a:rPr>
              <a:t>Move generator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288536"/>
            <a:ext cx="2075687" cy="585215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20" b="0">
                <a:solidFill>
                  <a:srgbClr val="1F2D3E"/>
                </a:solidFill>
                <a:latin typeface="Arial"/>
              </a:rPr>
              <a:t>Legal actions; make / unmake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11880" y="3840480"/>
            <a:ext cx="2331720" cy="1088136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950208"/>
            <a:ext cx="2148839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0" b="1">
                <a:solidFill>
                  <a:srgbClr val="0D2A54"/>
                </a:solidFill>
                <a:latin typeface="Arial"/>
              </a:rPr>
              <a:t>Heuristic 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9896" y="4288536"/>
            <a:ext cx="2075687" cy="585215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20" b="0">
                <a:solidFill>
                  <a:srgbClr val="1F2D3E"/>
                </a:solidFill>
                <a:latin typeface="Arial"/>
              </a:rPr>
              <a:t>5 interpretable terms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840480"/>
            <a:ext cx="2331720" cy="1088136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950208"/>
            <a:ext cx="2148839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0" b="1">
                <a:solidFill>
                  <a:srgbClr val="0D2A54"/>
                </a:solidFill>
                <a:latin typeface="Arial"/>
              </a:rPr>
              <a:t>Search optimisation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4288536"/>
            <a:ext cx="2075687" cy="585215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20" b="0">
                <a:solidFill>
                  <a:srgbClr val="1F2D3E"/>
                </a:solidFill>
                <a:latin typeface="Arial"/>
              </a:rPr>
              <a:t>MVV-LVA, QS, null move, TT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840480"/>
            <a:ext cx="2331720" cy="1088136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3950208"/>
            <a:ext cx="2148839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0" b="1">
                <a:solidFill>
                  <a:srgbClr val="0D2A54"/>
                </a:solidFill>
                <a:latin typeface="Arial"/>
              </a:rPr>
              <a:t>Verification &amp; CI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2016" y="4288536"/>
            <a:ext cx="2075687" cy="585215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20" b="0">
                <a:solidFill>
                  <a:srgbClr val="1F2D3E"/>
                </a:solidFill>
                <a:latin typeface="Arial"/>
              </a:rPr>
              <a:t>Perft, node:test, 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230368"/>
            <a:ext cx="107442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5D6875"/>
                </a:solidFill>
                <a:latin typeface="Arial"/>
              </a:rPr>
              <a:t>All core game logic is self-written. The browser uses HTTPS static assets; no gameplay server or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82880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212848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D2A54"/>
                </a:solidFill>
                <a:latin typeface="Arial"/>
              </a:rPr>
              <a:t>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51176"/>
            <a:ext cx="1572768" cy="5029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40" b="0">
                <a:solidFill>
                  <a:srgbClr val="1F2D3E"/>
                </a:solidFill>
                <a:latin typeface="Arial"/>
              </a:rPr>
              <a:t>Click, type SAN/UCI, choose FEN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2103120"/>
            <a:ext cx="2066543" cy="100584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212848"/>
            <a:ext cx="1883663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D2A54"/>
                </a:solidFill>
                <a:latin typeface="Arial"/>
              </a:rPr>
              <a:t>P1 · REACT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2551176"/>
            <a:ext cx="1810511" cy="5029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0" b="0">
                <a:solidFill>
                  <a:srgbClr val="1F2D3E"/>
                </a:solidFill>
                <a:latin typeface="Arial"/>
              </a:rPr>
              <a:t>Input, rules feedback, display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2103120"/>
            <a:ext cx="2423160" cy="100584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59" y="2212848"/>
            <a:ext cx="2240279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20" b="1">
                <a:solidFill>
                  <a:srgbClr val="0D2A54"/>
                </a:solidFill>
                <a:latin typeface="Arial"/>
              </a:rPr>
              <a:t>P2 · ENGINE WORKER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0136" y="2551176"/>
            <a:ext cx="2167128" cy="5029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60" b="0">
                <a:solidFill>
                  <a:srgbClr val="1F2D3E"/>
                </a:solidFill>
                <a:latin typeface="Arial"/>
              </a:rPr>
              <a:t>Legal moves → search →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103120"/>
            <a:ext cx="2871216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2212848"/>
            <a:ext cx="2688336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D2A54"/>
                </a:solidFill>
                <a:latin typeface="Arial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551176"/>
            <a:ext cx="2615184" cy="5029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0" b="0">
                <a:solidFill>
                  <a:srgbClr val="1F2D3E"/>
                </a:solidFill>
                <a:latin typeface="Arial"/>
              </a:rPr>
              <a:t>Board move + live telemetry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68880" y="2596896"/>
            <a:ext cx="475488" cy="0"/>
          </a:xfrm>
          <a:prstGeom prst="line">
            <a:avLst/>
          </a:prstGeom>
          <a:ln w="2540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>
            <a:off x="2798064" y="2505456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010912" y="2596896"/>
            <a:ext cx="521208" cy="0"/>
          </a:xfrm>
          <a:prstGeom prst="line">
            <a:avLst/>
          </a:prstGeom>
          <a:ln w="2540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5385816" y="2505456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955279" y="2596896"/>
            <a:ext cx="621793" cy="0"/>
          </a:xfrm>
          <a:prstGeom prst="line">
            <a:avLst/>
          </a:prstGeom>
          <a:ln w="2540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8430768" y="2505456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80944" y="4023360"/>
            <a:ext cx="2167128" cy="987552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72384" y="4133088"/>
            <a:ext cx="1984248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>
                <a:solidFill>
                  <a:srgbClr val="0D2A54"/>
                </a:solidFill>
                <a:latin typeface="Arial"/>
              </a:rPr>
              <a:t>D1 · GAME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471416"/>
            <a:ext cx="1911095" cy="48463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 b="0">
                <a:solidFill>
                  <a:srgbClr val="1F2D3E"/>
                </a:solidFill>
                <a:latin typeface="Arial"/>
              </a:rPr>
              <a:t>Position, clocks, repetition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32704" y="4023360"/>
            <a:ext cx="2377440" cy="987552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24144" y="4133088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>
                <a:solidFill>
                  <a:srgbClr val="0D2A54"/>
                </a:solidFill>
                <a:latin typeface="Arial"/>
              </a:rPr>
              <a:t>D2 · SEARCH 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471416"/>
            <a:ext cx="2121408" cy="48463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 b="0">
                <a:solidFill>
                  <a:srgbClr val="1F2D3E"/>
                </a:solidFill>
                <a:latin typeface="Arial"/>
              </a:rPr>
              <a:t>Zobrist-hashed fixed-size table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86784" y="3127248"/>
            <a:ext cx="0" cy="896112"/>
          </a:xfrm>
          <a:prstGeom prst="line">
            <a:avLst/>
          </a:prstGeom>
          <a:ln w="24130">
            <a:solidFill>
              <a:srgbClr val="1D4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hevron 31"/>
          <p:cNvSpPr/>
          <p:nvPr/>
        </p:nvSpPr>
        <p:spPr>
          <a:xfrm>
            <a:off x="3840480" y="3931920"/>
            <a:ext cx="182880" cy="182880"/>
          </a:xfrm>
          <a:prstGeom prst="chevron">
            <a:avLst/>
          </a:prstGeom>
          <a:solidFill>
            <a:srgbClr val="1D4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693408" y="3127248"/>
            <a:ext cx="0" cy="896112"/>
          </a:xfrm>
          <a:prstGeom prst="line">
            <a:avLst/>
          </a:prstGeom>
          <a:ln w="24130">
            <a:solidFill>
              <a:srgbClr val="1D4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hevron 33"/>
          <p:cNvSpPr/>
          <p:nvPr/>
        </p:nvSpPr>
        <p:spPr>
          <a:xfrm>
            <a:off x="6547104" y="3931920"/>
            <a:ext cx="182880" cy="182880"/>
          </a:xfrm>
          <a:prstGeom prst="chevron">
            <a:avLst/>
          </a:prstGeom>
          <a:solidFill>
            <a:srgbClr val="1D4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413248"/>
            <a:ext cx="1083564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10" b="0">
                <a:solidFill>
                  <a:srgbClr val="5D6875"/>
                </a:solidFill>
                <a:latin typeface="Arial"/>
              </a:rPr>
              <a:t>Level 1 DFD · User requests a move; the worker reads board state and search cache, then returns a legal move and metrics.</a:t>
            </a:r>
          </a:p>
        </p:txBody>
      </p:sp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Methodology/Work Flow Diagram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13232" y="1938528"/>
            <a:ext cx="1965960" cy="1170432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48256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30" b="1">
                <a:solidFill>
                  <a:srgbClr val="0D2A54"/>
                </a:solidFill>
                <a:latin typeface="Arial"/>
              </a:rPr>
              <a:t>01 ·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86584"/>
            <a:ext cx="1709928" cy="66751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0" b="0">
                <a:solidFill>
                  <a:srgbClr val="1F2D3E"/>
                </a:solidFill>
                <a:latin typeface="Arial"/>
              </a:rPr>
              <a:t>Player move / FEN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9191" y="2523744"/>
            <a:ext cx="338329" cy="0"/>
          </a:xfrm>
          <a:prstGeom prst="line">
            <a:avLst/>
          </a:prstGeom>
          <a:ln w="2540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2871215" y="2432303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3239" y="1938528"/>
            <a:ext cx="1965960" cy="1170432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79" y="2048256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30" b="1">
                <a:solidFill>
                  <a:srgbClr val="0D2A54"/>
                </a:solidFill>
                <a:latin typeface="Arial"/>
              </a:rPr>
              <a:t>02 ·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1256" y="2386584"/>
            <a:ext cx="1709928" cy="66751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0" b="0">
                <a:solidFill>
                  <a:srgbClr val="1F2D3E"/>
                </a:solidFill>
                <a:latin typeface="Arial"/>
              </a:rPr>
              <a:t>Rules, legality, FEN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0" y="2523744"/>
            <a:ext cx="338327" cy="0"/>
          </a:xfrm>
          <a:prstGeom prst="line">
            <a:avLst/>
          </a:prstGeom>
          <a:ln w="2540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vron 15"/>
          <p:cNvSpPr/>
          <p:nvPr/>
        </p:nvSpPr>
        <p:spPr>
          <a:xfrm>
            <a:off x="5221223" y="2432303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13248" y="1938528"/>
            <a:ext cx="1965960" cy="1170432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04688" y="2048256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30" b="1">
                <a:solidFill>
                  <a:srgbClr val="0D2A54"/>
                </a:solidFill>
                <a:latin typeface="Arial"/>
              </a:rPr>
              <a:t>03 ·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1264" y="2386584"/>
            <a:ext cx="1709928" cy="66751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0" b="0">
                <a:solidFill>
                  <a:srgbClr val="1F2D3E"/>
                </a:solidFill>
                <a:latin typeface="Arial"/>
              </a:rPr>
              <a:t>Negamax + α-β + 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79208" y="2523744"/>
            <a:ext cx="338328" cy="0"/>
          </a:xfrm>
          <a:prstGeom prst="line">
            <a:avLst/>
          </a:prstGeom>
          <a:ln w="2540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>
            <a:off x="7571231" y="2432303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63255" y="1938528"/>
            <a:ext cx="1965960" cy="1170432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5" y="2048256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30" b="1">
                <a:solidFill>
                  <a:srgbClr val="0D2A54"/>
                </a:solidFill>
                <a:latin typeface="Arial"/>
              </a:rPr>
              <a:t>04 · OPTIMISE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1" y="2386584"/>
            <a:ext cx="1709928" cy="66751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0" b="0">
                <a:solidFill>
                  <a:srgbClr val="1F2D3E"/>
                </a:solidFill>
                <a:latin typeface="Arial"/>
              </a:rPr>
              <a:t>QS, TT, ordering, null move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29215" y="2523744"/>
            <a:ext cx="338328" cy="0"/>
          </a:xfrm>
          <a:prstGeom prst="line">
            <a:avLst/>
          </a:prstGeom>
          <a:ln w="25400">
            <a:solidFill>
              <a:srgbClr val="C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9921239" y="2432303"/>
            <a:ext cx="182880" cy="182880"/>
          </a:xfrm>
          <a:prstGeom prst="chevron">
            <a:avLst/>
          </a:prstGeom>
          <a:solidFill>
            <a:srgbClr val="C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13263" y="1938528"/>
            <a:ext cx="1965960" cy="1170432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04703" y="2048256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30" b="1">
                <a:solidFill>
                  <a:srgbClr val="0D2A54"/>
                </a:solidFill>
                <a:latin typeface="Arial"/>
              </a:rPr>
              <a:t>05 ·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386584"/>
            <a:ext cx="1709928" cy="66751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10" b="0">
                <a:solidFill>
                  <a:srgbClr val="1F2D3E"/>
                </a:solidFill>
                <a:latin typeface="Arial"/>
              </a:rPr>
              <a:t>Move + depth + score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895344"/>
            <a:ext cx="3291840" cy="1051560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005072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D2A54"/>
                </a:solidFill>
                <a:latin typeface="Arial"/>
              </a:rPr>
              <a:t>BUILD /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4343400"/>
            <a:ext cx="3035808" cy="548639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1F2D3E"/>
                </a:solidFill>
                <a:latin typeface="Arial"/>
              </a:rPr>
              <a:t>Node test suite → perft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3895344"/>
            <a:ext cx="3291840" cy="1051560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005072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D2A54"/>
                </a:solidFill>
                <a:latin typeface="Arial"/>
              </a:rPr>
              <a:t>BENCHMARK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576" y="4343400"/>
            <a:ext cx="3035808" cy="548639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1F2D3E"/>
                </a:solidFill>
                <a:latin typeface="Arial"/>
              </a:rPr>
              <a:t>17 positions; self-play; Stockfish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895344"/>
            <a:ext cx="3246120" cy="1051560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005072"/>
            <a:ext cx="3063239" cy="27432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D2A54"/>
                </a:solidFill>
                <a:latin typeface="Arial"/>
              </a:rP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6" y="4343400"/>
            <a:ext cx="2990087" cy="548639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1F2D3E"/>
                </a:solidFill>
                <a:latin typeface="Arial"/>
              </a:rPr>
              <a:t>GitHub Actions → Firebase HTTPS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14800" y="4407408"/>
            <a:ext cx="365760" cy="0"/>
          </a:xfrm>
          <a:prstGeom prst="line">
            <a:avLst/>
          </a:prstGeom>
          <a:ln w="25400">
            <a:solidFill>
              <a:srgbClr val="1D4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hevron 39"/>
          <p:cNvSpPr/>
          <p:nvPr/>
        </p:nvSpPr>
        <p:spPr>
          <a:xfrm>
            <a:off x="4334256" y="4315968"/>
            <a:ext cx="182880" cy="182880"/>
          </a:xfrm>
          <a:prstGeom prst="chevron">
            <a:avLst/>
          </a:prstGeom>
          <a:solidFill>
            <a:srgbClr val="1D4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772400" y="4407408"/>
            <a:ext cx="365760" cy="0"/>
          </a:xfrm>
          <a:prstGeom prst="line">
            <a:avLst/>
          </a:prstGeom>
          <a:ln w="25400">
            <a:solidFill>
              <a:srgbClr val="1D49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hevron 41"/>
          <p:cNvSpPr/>
          <p:nvPr/>
        </p:nvSpPr>
        <p:spPr>
          <a:xfrm>
            <a:off x="7991856" y="4315968"/>
            <a:ext cx="182880" cy="182880"/>
          </a:xfrm>
          <a:prstGeom prst="chevron">
            <a:avLst/>
          </a:prstGeom>
          <a:solidFill>
            <a:srgbClr val="1D4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394960"/>
            <a:ext cx="104698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5D6875"/>
                </a:solidFill>
                <a:latin typeface="Arial"/>
              </a:rPr>
              <a:t>No dataset training or preprocessing is required; chess positions are rules-based test inputs.</a:t>
            </a:r>
          </a:p>
        </p:txBody>
      </p:sp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783080"/>
            <a:ext cx="10241280" cy="76126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Language and engine: JavaScript (ES modules), a custom 64-square board model and self-written search algorithms.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27228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27228"/>
            <a:ext cx="10241280" cy="76126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Interface: React 19, Vite 8, CSS and the Web Workers API. Search runs without blocking the chessboard.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71376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671376"/>
            <a:ext cx="10241280" cy="76126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Validation: Node.js 20 with node:test (53 cases), published perft suites, benchmarking scripts and Stockfish 19 as reference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15525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615525"/>
            <a:ext cx="10241280" cy="76126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Delivery: Git/GitHub, GitHub Actions and Firebase Hosting. No GPU, external chess library or ML dataset is required.</a:t>
            </a:r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50392" y="1664208"/>
            <a:ext cx="10515600" cy="539496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1764792"/>
            <a:ext cx="530352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>
                <a:solidFill>
                  <a:srgbClr val="C10000"/>
                </a:solidFill>
                <a:latin typeface="Arial"/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55648"/>
            <a:ext cx="7461504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39" b="1">
                <a:solidFill>
                  <a:srgbClr val="1F2D3E"/>
                </a:solidFill>
                <a:latin typeface="Arial"/>
              </a:rPr>
              <a:t>Board and move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783080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" y="2304288"/>
            <a:ext cx="10515600" cy="5394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2404872"/>
            <a:ext cx="530352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>
                <a:solidFill>
                  <a:srgbClr val="C10000"/>
                </a:solidFill>
                <a:latin typeface="Arial"/>
              </a:rP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395728"/>
            <a:ext cx="7461504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39" b="1">
                <a:solidFill>
                  <a:srgbClr val="1F2D3E"/>
                </a:solidFill>
                <a:latin typeface="Arial"/>
              </a:rPr>
              <a:t>Five-term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423160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" y="2944368"/>
            <a:ext cx="10515600" cy="539496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" y="3044951"/>
            <a:ext cx="530352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>
                <a:solidFill>
                  <a:srgbClr val="C10000"/>
                </a:solidFill>
                <a:latin typeface="Arial"/>
              </a:rPr>
              <a:t>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035808"/>
            <a:ext cx="7461504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39" b="1">
                <a:solidFill>
                  <a:srgbClr val="1F2D3E"/>
                </a:solidFill>
                <a:latin typeface="Arial"/>
              </a:rPr>
              <a:t>Adversarial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063239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3584448"/>
            <a:ext cx="10515600" cy="5394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685032"/>
            <a:ext cx="530352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>
                <a:solidFill>
                  <a:srgbClr val="C10000"/>
                </a:solidFill>
                <a:latin typeface="Arial"/>
              </a:rPr>
              <a:t>M4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675887"/>
            <a:ext cx="7461504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39" b="1">
                <a:solidFill>
                  <a:srgbClr val="1F2D3E"/>
                </a:solidFill>
                <a:latin typeface="Arial"/>
              </a:rPr>
              <a:t>Search optimisation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703320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" y="4224528"/>
            <a:ext cx="10515600" cy="539496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" y="4325112"/>
            <a:ext cx="530352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>
                <a:solidFill>
                  <a:srgbClr val="C10000"/>
                </a:solidFill>
                <a:latin typeface="Arial"/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315968"/>
            <a:ext cx="7461504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39" b="1">
                <a:solidFill>
                  <a:srgbClr val="1F2D3E"/>
                </a:solidFill>
                <a:latin typeface="Arial"/>
              </a:rPr>
              <a:t>UI, teaching mode and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343400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" y="4864608"/>
            <a:ext cx="10515600" cy="5394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" y="4965192"/>
            <a:ext cx="530352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>
                <a:solidFill>
                  <a:srgbClr val="C10000"/>
                </a:solidFill>
                <a:latin typeface="Arial"/>
              </a:rPr>
              <a:t>M6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956048"/>
            <a:ext cx="7461504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39" b="1">
                <a:solidFill>
                  <a:srgbClr val="1F2D3E"/>
                </a:solidFill>
                <a:latin typeface="Arial"/>
              </a:rPr>
              <a:t>Verification and benchmarks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983480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05856"/>
            <a:ext cx="105156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90" b="0">
                <a:solidFill>
                  <a:srgbClr val="5D6875"/>
                </a:solidFill>
                <a:latin typeface="Arial"/>
              </a:rPr>
              <a:t>All six modules are implemented. The next slides give a separate description of each module.</a:t>
            </a:r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C10000"/>
                </a:solidFill>
                <a:latin typeface="Arial"/>
              </a:rPr>
              <a:t>Module Descriptions · 1–3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59536" y="1673352"/>
            <a:ext cx="10451592" cy="1234440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92808"/>
            <a:ext cx="640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40" b="1">
                <a:solidFill>
                  <a:srgbClr val="C10000"/>
                </a:solidFill>
                <a:latin typeface="Arial"/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1792224"/>
            <a:ext cx="9025128" cy="38404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D2A54"/>
                </a:solidFill>
                <a:latin typeface="Arial"/>
              </a:rPr>
              <a:t>Board Representation &amp; Move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9656" y="2231136"/>
            <a:ext cx="9098280" cy="5577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30" b="0">
                <a:solidFill>
                  <a:srgbClr val="1F2D3E"/>
                </a:solidFill>
                <a:latin typeface="Arial"/>
              </a:rPr>
              <a:t>64-square board; legal move checks; castling, en passant and promotion; FEN and SAN support.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" y="3026664"/>
            <a:ext cx="10451592" cy="123444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640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40" b="1">
                <a:solidFill>
                  <a:srgbClr val="C10000"/>
                </a:solidFill>
                <a:latin typeface="Arial"/>
              </a:rP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3145536"/>
            <a:ext cx="9025128" cy="38404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D2A54"/>
                </a:solidFill>
                <a:latin typeface="Arial"/>
              </a:rPr>
              <a:t>Hand-Crafted Heuristic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3584448"/>
            <a:ext cx="9098280" cy="5577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30" b="0">
                <a:solidFill>
                  <a:srgbClr val="1F2D3E"/>
                </a:solidFill>
                <a:latin typeface="Arial"/>
              </a:rPr>
              <a:t>Material, piece-square tables, pawn structure, king safety and mobility produce a centipawn score.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4379976"/>
            <a:ext cx="10451592" cy="1234440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99432"/>
            <a:ext cx="640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40" b="1">
                <a:solidFill>
                  <a:srgbClr val="C10000"/>
                </a:solidFill>
                <a:latin typeface="Arial"/>
              </a:rPr>
              <a:t>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4498848"/>
            <a:ext cx="9025128" cy="38404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D2A54"/>
                </a:solidFill>
                <a:latin typeface="Arial"/>
              </a:rPr>
              <a:t>Adversarial Search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9656" y="4937760"/>
            <a:ext cx="9098280" cy="5577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30" b="0">
                <a:solidFill>
                  <a:srgbClr val="1F2D3E"/>
                </a:solidFill>
                <a:latin typeface="Arial"/>
              </a:rPr>
              <a:t>Iterative deepening runs Negamax with Alpha-Beta inside a move-time budget and returns the best move.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5742432"/>
            <a:ext cx="1042416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>
                <a:solidFill>
                  <a:srgbClr val="5D6875"/>
                </a:solidFill>
                <a:latin typeface="Arial"/>
              </a:rPr>
              <a:t>All components are self-built and run locally in the browser; no learned chess model is used.</a:t>
            </a:r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C10000"/>
                </a:solidFill>
                <a:latin typeface="Arial"/>
              </a:rPr>
              <a:t>Module Descriptions · 4–6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59536" y="1673352"/>
            <a:ext cx="10451592" cy="123444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92808"/>
            <a:ext cx="640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40" b="1">
                <a:solidFill>
                  <a:srgbClr val="C10000"/>
                </a:solidFill>
                <a:latin typeface="Arial"/>
              </a:rPr>
              <a:t>M4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1792224"/>
            <a:ext cx="9025128" cy="38404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D2A54"/>
                </a:solidFill>
                <a:latin typeface="Arial"/>
              </a:rPr>
              <a:t>Search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9656" y="2231136"/>
            <a:ext cx="9098280" cy="5577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30" b="0">
                <a:solidFill>
                  <a:srgbClr val="1F2D3E"/>
                </a:solidFill>
                <a:latin typeface="Arial"/>
              </a:rPr>
              <a:t>MVV-LVA ordering, quiescence, null-move pruning and a fixed 10 MB Zobrist transposition 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" y="3026664"/>
            <a:ext cx="10451592" cy="1234440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640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40" b="1">
                <a:solidFill>
                  <a:srgbClr val="C10000"/>
                </a:solidFill>
                <a:latin typeface="Arial"/>
              </a:rPr>
              <a:t>M5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3145536"/>
            <a:ext cx="9025128" cy="38404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D2A54"/>
                </a:solidFill>
                <a:latin typeface="Arial"/>
              </a:rPr>
              <a:t>User Interface &amp;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3584448"/>
            <a:ext cx="9098280" cy="5577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30" b="0">
                <a:solidFill>
                  <a:srgbClr val="1F2D3E"/>
                </a:solidFill>
                <a:latin typeface="Arial"/>
              </a:rPr>
              <a:t>React play screen, game clocks, legal hints, SAN input, premoves, teaching mode and Firebase Hosting.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4379976"/>
            <a:ext cx="10451592" cy="123444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99432"/>
            <a:ext cx="640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40" b="1">
                <a:solidFill>
                  <a:srgbClr val="C10000"/>
                </a:solidFill>
                <a:latin typeface="Arial"/>
              </a:rPr>
              <a:t>M6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4498848"/>
            <a:ext cx="9025128" cy="384048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D2A54"/>
                </a:solidFill>
                <a:latin typeface="Arial"/>
              </a:rPr>
              <a:t>Testing &amp; Benchmarking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9656" y="4937760"/>
            <a:ext cx="9098280" cy="5577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30" b="0">
                <a:solidFill>
                  <a:srgbClr val="1F2D3E"/>
                </a:solidFill>
                <a:latin typeface="Arial"/>
              </a:rPr>
              <a:t>Node.js test suite, perft correctness, controlled search comparisons and self-play/Stockfish games.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5742432"/>
            <a:ext cx="1042416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>
                <a:solidFill>
                  <a:srgbClr val="5D6875"/>
                </a:solidFill>
                <a:latin typeface="Arial"/>
              </a:rPr>
              <a:t>The engine works in a Web Worker, keeping the chess interface responsive during searches.</a:t>
            </a:r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27432" rIns="27432" tIns="27432" bIns="27432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rgbClr val="C10000"/>
                </a:solidFill>
                <a:latin typeface="Arial"/>
              </a:rPr>
              <a:t>Results &amp; Discussion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527048"/>
            <a:ext cx="105156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0D2A54"/>
                </a:solidFill>
                <a:latin typeface="Arial"/>
              </a:rPr>
              <a:t>Starting position · fixed depth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084831"/>
            <a:ext cx="3447288" cy="1719072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231136"/>
            <a:ext cx="324612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D2A54"/>
                </a:solidFill>
                <a:latin typeface="Arial"/>
              </a:rPr>
              <a:t>Plain Minimax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60904"/>
            <a:ext cx="3246120" cy="51206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70" b="1">
                <a:solidFill>
                  <a:srgbClr val="C10000"/>
                </a:solidFill>
                <a:latin typeface="Arial"/>
              </a:rPr>
              <a:t>5,072,213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291840"/>
            <a:ext cx="3310128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>
                <a:solidFill>
                  <a:srgbClr val="5D6875"/>
                </a:solidFill>
                <a:latin typeface="Arial"/>
              </a:rPr>
              <a:t>baseline  ·  15.0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2084831"/>
            <a:ext cx="3447288" cy="1719072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231136"/>
            <a:ext cx="324612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D2A54"/>
                </a:solidFill>
                <a:latin typeface="Arial"/>
              </a:rPr>
              <a:t>Alpha-Beta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660904"/>
            <a:ext cx="3246120" cy="51206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70" b="1">
                <a:solidFill>
                  <a:srgbClr val="0D2A54"/>
                </a:solidFill>
                <a:latin typeface="Arial"/>
              </a:rPr>
              <a:t>113,360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291840"/>
            <a:ext cx="3310128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>
                <a:solidFill>
                  <a:srgbClr val="5D6875"/>
                </a:solidFill>
                <a:latin typeface="Arial"/>
              </a:rPr>
              <a:t>45× fewer nodes  ·  0.42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75904" y="2084831"/>
            <a:ext cx="3447288" cy="1719072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7344" y="2231136"/>
            <a:ext cx="324612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D2A54"/>
                </a:solidFill>
                <a:latin typeface="Arial"/>
              </a:rPr>
              <a:t>Alpha-Beta + ordering + 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2660904"/>
            <a:ext cx="3246120" cy="51206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70" b="1">
                <a:solidFill>
                  <a:srgbClr val="0D2A54"/>
                </a:solidFill>
                <a:latin typeface="Arial"/>
              </a:rPr>
              <a:t>58,390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291840"/>
            <a:ext cx="3310128" cy="3017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>
                <a:solidFill>
                  <a:srgbClr val="5D6875"/>
                </a:solidFill>
                <a:latin typeface="Arial"/>
              </a:rPr>
              <a:t>87× fewer nodes  ·  0.28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59936"/>
            <a:ext cx="3246120" cy="129844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160520"/>
            <a:ext cx="3026663" cy="44805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50" b="1">
                <a:solidFill>
                  <a:srgbClr val="0D2A54"/>
                </a:solidFill>
                <a:latin typeface="Arial"/>
              </a:rPr>
              <a:t>110.6×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90872"/>
            <a:ext cx="3063239" cy="5303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90" b="0">
                <a:solidFill>
                  <a:srgbClr val="5D6875"/>
                </a:solidFill>
                <a:latin typeface="Arial"/>
              </a:rPr>
              <a:t>mean depth-4 saving on 17 positions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5424" y="4059936"/>
            <a:ext cx="3246120" cy="129844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4160520"/>
            <a:ext cx="3026663" cy="44805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50" b="1">
                <a:solidFill>
                  <a:srgbClr val="0D2A54"/>
                </a:solidFill>
                <a:latin typeface="Arial"/>
              </a:rPr>
              <a:t>79 / 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4690872"/>
            <a:ext cx="3063239" cy="5303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90" b="0">
                <a:solidFill>
                  <a:srgbClr val="5D6875"/>
                </a:solidFill>
                <a:latin typeface="Arial"/>
              </a:rPr>
              <a:t>exact-search agreement with Minimax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8" y="4059936"/>
            <a:ext cx="3246120" cy="1298448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6" y="4160520"/>
            <a:ext cx="3026663" cy="44805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50" b="1">
                <a:solidFill>
                  <a:srgbClr val="0D2A54"/>
                </a:solidFill>
                <a:latin typeface="Arial"/>
              </a:rPr>
              <a:t>~1600–1700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690872"/>
            <a:ext cx="3063239" cy="53035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90" b="0">
                <a:solidFill>
                  <a:srgbClr val="5D6875"/>
                </a:solidFill>
                <a:latin typeface="Arial"/>
              </a:rPr>
              <a:t>Stockfish calibrated scale · 1 s / move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532120"/>
            <a:ext cx="10661904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0" b="0">
                <a:solidFill>
                  <a:srgbClr val="5D6875"/>
                </a:solidFill>
                <a:latin typeface="Arial"/>
              </a:rPr>
              <a:t>53 automated tests · 7/7 standard perft positions · 128 Stockfish benchmark games. Results from Phase I Report.</a:t>
            </a:r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Interface/ Screenshots</a:t>
            </a:r>
            <a:endParaRPr lang="en-IN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lIns="54864" rIns="54864" tIns="54864" bIns="5486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  <a:buNone/>
            </a:pPr>
            <a:r>
              <a:rPr sz="1250" b="0">
                <a:solidFill>
                  <a:srgbClr val="5D6875"/>
                </a:solidFill>
                <a:latin typeface="Arial"/>
              </a:rPr>
              <a:t>Model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7" name="Rounded Rectangle 6"/>
          <p:cNvSpPr/>
          <p:nvPr/>
        </p:nvSpPr>
        <p:spPr>
          <a:xfrm>
            <a:off x="658368" y="1746504"/>
            <a:ext cx="5394960" cy="4133087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5624" y="1746504"/>
            <a:ext cx="5394960" cy="4133087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BDC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1920240"/>
            <a:ext cx="4617720" cy="3447288"/>
          </a:xfrm>
          <a:prstGeom prst="rect">
            <a:avLst/>
          </a:prstGeom>
        </p:spPr>
      </p:pic>
      <p:pic>
        <p:nvPicPr>
          <p:cNvPr id="10" name="Picture 9" descr="teac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20240"/>
            <a:ext cx="3602736" cy="34472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" y="5522976"/>
            <a:ext cx="52120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0" b="0">
                <a:solidFill>
                  <a:srgbClr val="1D4980"/>
                </a:solidFill>
                <a:latin typeface="Arial"/>
              </a:rPr>
              <a:t>Play screen: clocks, SAN history and engine 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522976"/>
            <a:ext cx="52578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70" b="0">
                <a:solidFill>
                  <a:srgbClr val="1D4980"/>
                </a:solidFill>
                <a:latin typeface="Arial"/>
              </a:rPr>
              <a:t>Teaching mode: side-by-side search costs and FEN presets</a:t>
            </a:r>
          </a:p>
        </p:txBody>
      </p:sp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Conclusion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783080"/>
            <a:ext cx="10241280" cy="781751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The project demonstrates a complete, explainable chess agent built only with classical AI search, heuristic evaluation and game-state reasoning.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47711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47711"/>
            <a:ext cx="10241280" cy="781751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Correctness is independently supported by seven standard perft test positions and 53 automated tests.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12342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12342"/>
            <a:ext cx="10241280" cy="781751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The optimised exact-search variants matched plain Minimax on all 79 comparable searches while greatly reducing explored nodes.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76973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676973"/>
            <a:ext cx="10241280" cy="781751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The React app makes the results accessible through interactive gameplay, teaching-mode comparisons and live engine telemetry.</a:t>
            </a:r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Future Work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783080"/>
            <a:ext cx="10241280" cy="79199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Improve tactical stability by adding check evasions and selective check extensions to the quiescence 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48808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48808"/>
            <a:ext cx="10241280" cy="79199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Explore killer/history move ordering and incremental Zobrist updates to improve search speed.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14536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14536"/>
            <a:ext cx="10241280" cy="79199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Increase testing across opening styles, playing strengths, browsers and different move-time budgets.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80264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680264"/>
            <a:ext cx="10241280" cy="79199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1F2D3E"/>
                </a:solidFill>
                <a:latin typeface="Arial"/>
              </a:rPr>
              <a:t>Harden CI/CD and Firebase delivery with scoped deployment permissions, security headers and dependency scanning.</a:t>
            </a:r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23544" y="1673352"/>
            <a:ext cx="10287000" cy="48463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60" b="0">
                <a:solidFill>
                  <a:srgbClr val="1F2D3E"/>
                </a:solidFill>
                <a:latin typeface="Arial"/>
              </a:rPr>
              <a:t>[1] C. E. Shannon, “Programming a Computer for Playing Chess,” Philosophical Magazine, 1950.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231136"/>
            <a:ext cx="10287000" cy="48463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60" b="0">
                <a:solidFill>
                  <a:srgbClr val="1F2D3E"/>
                </a:solidFill>
                <a:latin typeface="Arial"/>
              </a:rPr>
              <a:t>[2] A. L. Zobrist, “A New Hashing Method with Application for Game Playing,” Tech. Rep. 88, 1970.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788920"/>
            <a:ext cx="10287000" cy="48463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60" b="0">
                <a:solidFill>
                  <a:srgbClr val="1F2D3E"/>
                </a:solidFill>
                <a:latin typeface="Arial"/>
              </a:rPr>
              <a:t>[3] D. E. Knuth and R. W. Moore, “An Analysis of Alpha-Beta Pruning,” Artificial Intelligence, 1975.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346703"/>
            <a:ext cx="10287000" cy="48463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60" b="0">
                <a:solidFill>
                  <a:srgbClr val="1F2D3E"/>
                </a:solidFill>
                <a:latin typeface="Arial"/>
              </a:rPr>
              <a:t>[4] D. F. Beal, “A Generalised Quiescence Search Algorithm,” Artificial Intelligence, 1990.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904487"/>
            <a:ext cx="10287000" cy="48463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60" b="0">
                <a:solidFill>
                  <a:srgbClr val="1F2D3E"/>
                </a:solidFill>
                <a:latin typeface="Arial"/>
              </a:rPr>
              <a:t>[5] C. Donninger, “Null Move and Deep Search,” ICCA Journal, 1993.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4462272"/>
            <a:ext cx="10287000" cy="48463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60" b="0">
                <a:solidFill>
                  <a:srgbClr val="1F2D3E"/>
                </a:solidFill>
                <a:latin typeface="Arial"/>
              </a:rPr>
              <a:t>[6] S. Russell and P. Norvig, Artificial Intelligence: A Modern Approach, 4th ed., Pearson, 2020.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5020056"/>
            <a:ext cx="10287000" cy="484632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60" b="0">
                <a:solidFill>
                  <a:srgbClr val="1F2D3E"/>
                </a:solidFill>
                <a:latin typeface="Arial"/>
              </a:rPr>
              <a:t>[7] SaIdEeVaN, FOAI-Project (source, benchmarks and REPORT.md), github.com/SaIdEeVaN/FOAI-Project.</a:t>
            </a:r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87552" y="4343400"/>
            <a:ext cx="10149840" cy="46634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0D2A54"/>
                </a:solidFill>
                <a:latin typeface="Arial"/>
              </a:rPr>
              <a:t>Adversarial State-Space Optimization in Chess Environments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910328"/>
            <a:ext cx="8531352" cy="42062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1">
                <a:solidFill>
                  <a:srgbClr val="1D4980"/>
                </a:solidFill>
                <a:latin typeface="Arial"/>
                <a:hlinkClick r:id="rId2"/>
              </a:rPr>
              <a:t>Live demo: foai-chess-engine.web.app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340096"/>
            <a:ext cx="9262872" cy="3657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20" b="0">
                <a:solidFill>
                  <a:srgbClr val="5D6875"/>
                </a:solidFill>
                <a:latin typeface="Arial"/>
                <a:hlinkClick r:id="rId3"/>
              </a:rPr>
              <a:t>Code and experiments: github.com/SaIdEeVaN/FOAI-Project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420</Words>
  <Application>Microsoft Office PowerPoint</Application>
  <PresentationFormat>Widescreen</PresentationFormat>
  <Paragraphs>108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Calibri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Abstract</vt:lpstr>
      <vt:lpstr>Literature Survey</vt:lpstr>
      <vt:lpstr>Literature Survey</vt:lpstr>
      <vt:lpstr>Research Gap/Existing System</vt:lpstr>
      <vt:lpstr>Proposed System System</vt:lpstr>
      <vt:lpstr>DFD Diagram</vt:lpstr>
      <vt:lpstr>Methodology/Work Flow Diagram</vt:lpstr>
      <vt:lpstr>Tools and Technologies</vt:lpstr>
      <vt:lpstr>List of Modules</vt:lpstr>
      <vt:lpstr>Module Description(For each Module separately)</vt:lpstr>
      <vt:lpstr>Module Description(For each Module separately)</vt:lpstr>
      <vt:lpstr>Results &amp; Discussion</vt:lpstr>
      <vt:lpstr>User Interface/ Screenshots</vt:lpstr>
      <vt:lpstr>Conclusion</vt:lpstr>
      <vt:lpstr>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14</cp:revision>
  <dcterms:modified xsi:type="dcterms:W3CDTF">2026-10-13T05:55:04Z</dcterms:modified>
</cp:coreProperties>
</file>
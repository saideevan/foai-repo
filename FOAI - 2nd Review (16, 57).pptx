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4" r:id="rId7"/>
    <p:sldId id="272" r:id="rId8"/>
    <p:sldId id="273" r:id="rId9"/>
    <p:sldId id="260" r:id="rId10"/>
    <p:sldId id="268" r:id="rId11"/>
    <p:sldId id="275" r:id="rId12"/>
    <p:sldId id="261" r:id="rId13"/>
    <p:sldId id="262" r:id="rId14"/>
    <p:sldId id="269" r:id="rId15"/>
    <p:sldId id="263" r:id="rId16"/>
    <p:sldId id="276" r:id="rId28"/>
    <p:sldId id="270" r:id="rId17"/>
    <p:sldId id="277" r:id="rId29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00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D2A54"/>
                </a:solidFill>
                <a:latin typeface="Arial"/>
              </a:rPr>
              <a:t>Depth-4 node reduction vs Minimax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Node reduction</c:v>
                </c:pt>
              </c:strCache>
            </c:strRef>
          </c:tx>
          <c:spPr>
            <a:solidFill>
              <a:srgbClr val="0D2A54"/>
            </a:solidFill>
          </c:spPr>
          <c:dPt>
            <c:idx val="0"/>
            <c:spPr>
              <a:solidFill>
                <a:srgbClr val="A3B2C1"/>
              </a:solidFill>
            </c:spPr>
          </c:dPt>
          <c:dPt>
            <c:idx val="1"/>
            <c:spPr>
              <a:solidFill>
                <a:srgbClr val="A3B2C1"/>
              </a:solidFill>
            </c:spPr>
          </c:dPt>
          <c:dPt>
            <c:idx val="2"/>
            <c:spPr>
              <a:solidFill>
                <a:srgbClr val="0D2A54"/>
              </a:solidFill>
            </c:spPr>
          </c:dPt>
          <c:dPt>
            <c:idx val="3"/>
            <c:spPr>
              <a:solidFill>
                <a:srgbClr val="C00000"/>
              </a:solidFill>
            </c:spPr>
          </c:dPt>
          <c:cat>
            <c:strRef>
              <c:f>Sheet1!$A$2:$A$5</c:f>
              <c:strCache>
                <c:ptCount val="4"/>
                <c:pt idx="0">
                  <c:v>Alpha-Beta</c:v>
                </c:pt>
                <c:pt idx="1">
                  <c:v>+ TT</c:v>
                </c:pt>
                <c:pt idx="2">
                  <c:v>+ MVV-LVA</c:v>
                </c:pt>
                <c:pt idx="3">
                  <c:v>+ MVV-LVA + TT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20.8</c:v>
                </c:pt>
                <c:pt idx="1">
                  <c:v>23.2</c:v>
                </c:pt>
                <c:pt idx="2">
                  <c:v>102.6</c:v>
                </c:pt>
                <c:pt idx="3">
                  <c:v>110.6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sz="1200" b="1">
                  <a:solidFill>
                    <a:srgbClr val="0D2A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DCCDE"/>
            </a:solidFill>
          </a:ln>
        </c:spPr>
        <c:txPr>
          <a:bodyPr/>
          <a:lstStyle/>
          <a:p>
            <a:pPr>
              <a:defRPr sz="1150">
                <a:solidFill>
                  <a:srgbClr val="1F2D3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.0"/>
          <c:min val="0.0"/>
        </c:scaling>
        <c:delete val="0"/>
        <c:axPos val="l"/>
        <c:majorGridlines>
          <c:spPr>
            <a:ln w="9525">
              <a:solidFill>
                <a:srgbClr val="DCE3EC"/>
              </a:solidFill>
            </a:ln>
          </c:spPr>
        </c:majorGridlines>
        <c:numFmt formatCode="0&quot;×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B6B7E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200">
          <a:solidFill>
            <a:srgbClr val="1F2D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D2A54"/>
                </a:solidFill>
                <a:latin typeface="Arial"/>
              </a:rPr>
              <a:t>Score vs Stockfish 19 at 1 s / move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score</c:v>
                </c:pt>
              </c:strCache>
            </c:strRef>
          </c:tx>
          <c:spPr>
            <a:solidFill>
              <a:srgbClr val="0D2A54"/>
            </a:solidFill>
          </c:spPr>
          <c:cat>
            <c:strRef>
              <c:f>Sheet1!$A$2:$A$5</c:f>
              <c:strCache>
                <c:ptCount val="4"/>
                <c:pt idx="0">
                  <c:v>UCI_Elo 1500</c:v>
                </c:pt>
                <c:pt idx="1">
                  <c:v>UCI_Elo 1700</c:v>
                </c:pt>
                <c:pt idx="2">
                  <c:v>UCI_Elo 1900</c:v>
                </c:pt>
                <c:pt idx="3">
                  <c:v>UCI_Elo 2100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65.6</c:v>
                </c:pt>
                <c:pt idx="1">
                  <c:v>34.4</c:v>
                </c:pt>
                <c:pt idx="2">
                  <c:v>29.7</c:v>
                </c:pt>
                <c:pt idx="3">
                  <c:v>28.1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at 1697</c:v>
                </c:pt>
              </c:strCache>
            </c:strRef>
          </c:tx>
          <c:spPr>
            <a:solidFill>
              <a:srgbClr val="A3B2C1"/>
            </a:solidFill>
          </c:spPr>
          <c:cat>
            <c:strRef>
              <c:f>Sheet1!$A$2:$A$5</c:f>
              <c:strCache>
                <c:ptCount val="4"/>
                <c:pt idx="0">
                  <c:v>UCI_Elo 1500</c:v>
                </c:pt>
                <c:pt idx="1">
                  <c:v>UCI_Elo 1700</c:v>
                </c:pt>
                <c:pt idx="2">
                  <c:v>UCI_Elo 1900</c:v>
                </c:pt>
                <c:pt idx="3">
                  <c:v>UCI_Elo 2100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76</c:v>
                </c:pt>
                <c:pt idx="1">
                  <c:v>50</c:v>
                </c:pt>
                <c:pt idx="2">
                  <c:v>24</c:v>
                </c:pt>
                <c:pt idx="3">
                  <c:v>9</c:v>
                </c:pt>
              </c:numCache>
            </c:numRef>
          </c:val>
        </c:ser>
        <c:dLbls>
          <c:numFmt formatCode="General&quot;%&quot;" sourceLinked="0"/>
          <c:txPr>
            <a:bodyPr/>
            <a:lstStyle/>
            <a:p>
              <a:pPr>
                <a:defRPr sz="1100">
                  <a:solidFill>
                    <a:srgbClr val="1F2D3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DCCDE"/>
            </a:solidFill>
          </a:ln>
        </c:spPr>
        <c:txPr>
          <a:bodyPr/>
          <a:lstStyle/>
          <a:p>
            <a:pPr>
              <a:defRPr sz="1150">
                <a:solidFill>
                  <a:srgbClr val="1F2D3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0.0"/>
        </c:scaling>
        <c:delete val="0"/>
        <c:axPos val="l"/>
        <c:majorGridlines>
          <c:spPr>
            <a:ln w="9525">
              <a:solidFill>
                <a:srgbClr val="DCE3EC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B6B7E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F2D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18288" tIns="18288" rIns="18288" bIns="18288" rtlCol="0" anchor="ctr" wrap="square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50" b="1">
                <a:solidFill>
                  <a:srgbClr val="6F3098"/>
                </a:solidFill>
                <a:latin typeface="Arial"/>
              </a:rPr>
              <a:t>ADVERSARIAL STATE-SPACE OPTIMIZATION</a:t>
            </a:r>
          </a:p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50" b="1">
                <a:solidFill>
                  <a:srgbClr val="6F3098"/>
                </a:solidFill>
                <a:latin typeface="Arial"/>
              </a:rPr>
              <a:t>IN CHESS ENVIRONMENTS | REVIEW 2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9" y="5175504"/>
            <a:ext cx="3429000" cy="950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" rIns="9144" tIns="9144" bIns="9144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sz="1800" b="1">
                <a:solidFill>
                  <a:srgbClr val="C10000"/>
                </a:solidFill>
                <a:latin typeface="Arial"/>
              </a:rPr>
              <a:t>Supervisor: Dr. S. Bhuvana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C10000"/>
                </a:solidFill>
                <a:latin typeface="Arial"/>
              </a:rPr>
              <a:t>Assistant Professor (SG)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8079" y="5102352"/>
            <a:ext cx="3986784" cy="111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" rIns="9144" tIns="9144" bIns="9144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Team members: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Baviri Setty Sai Deevan (241901016)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Monish Priyan M (241901057)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896112"/>
            <a:ext cx="10515600" cy="7132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609344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9339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783080"/>
            <a:ext cx="10241280" cy="79540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30" b="0">
                <a:solidFill>
                  <a:srgbClr val="1F2D3E"/>
                </a:solidFill>
                <a:latin typeface="Arial"/>
              </a:rPr>
              <a:t>Chess has an enormous search space. Exhaustive Minimax is impractical at useful depths, especially under a move clock.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52222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52222"/>
            <a:ext cx="10241280" cy="79540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30" b="0">
                <a:solidFill>
                  <a:srgbClr val="1F2D3E"/>
                </a:solidFill>
                <a:latin typeface="Arial"/>
              </a:rPr>
              <a:t>Unstable positions create a horizon effect: stopping halfway through captures can make an unsafe move look attractive.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21364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21364"/>
            <a:ext cx="10241280" cy="79540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30" b="0">
                <a:solidFill>
                  <a:srgbClr val="1F2D3E"/>
                </a:solidFill>
                <a:latin typeface="Arial"/>
              </a:rPr>
              <a:t>Existing engines can be powerful but often depend on learned evaluation or hide how pruning and caching influence each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90506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690506"/>
            <a:ext cx="10241280" cy="79540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30" b="0">
                <a:solidFill>
                  <a:srgbClr val="1F2D3E"/>
                </a:solidFill>
                <a:latin typeface="Arial"/>
              </a:rPr>
              <a:t>Our goal is a self-built, explainable classical-AI chess engine that plays legally, searches efficiently, and shows its work.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783080"/>
            <a:ext cx="10241280" cy="77150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60" b="0">
                <a:solidFill>
                  <a:srgbClr val="1F2D3E"/>
                </a:solidFill>
                <a:latin typeface="Arial"/>
              </a:rPr>
              <a:t>Model chess as a deterministic, fully observable, zero-sum problem with states, legal actions and a transition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37469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37469"/>
            <a:ext cx="10241280" cy="77150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60" b="0">
                <a:solidFill>
                  <a:srgbClr val="1F2D3E"/>
                </a:solidFill>
                <a:latin typeface="Arial"/>
              </a:rPr>
              <a:t>Build rules, SAN/FEN input, and a five-term heuristic from scratch, without ML or an external chess engine library.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91859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691859"/>
            <a:ext cx="10241280" cy="77150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60" b="0">
                <a:solidFill>
                  <a:srgbClr val="1F2D3E"/>
                </a:solidFill>
                <a:latin typeface="Arial"/>
              </a:rPr>
              <a:t>Use Negamax, Alpha-Beta, iterative deepening, ordering, hashing, quiescence and selective null-move pruning.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46249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646249"/>
            <a:ext cx="10241280" cy="77150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60" b="0">
                <a:solidFill>
                  <a:srgbClr val="1F2D3E"/>
                </a:solidFill>
                <a:latin typeface="Arial"/>
              </a:rPr>
              <a:t>Validate with perft, equivalence experiments and rated games. Achieved: 7/7 perft sets; 79/79 exact-search matches; 53 tests.</a:t>
            </a:r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Project Progress Since Review 1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664208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664208"/>
            <a:ext cx="1024128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0" b="0">
                <a:solidFill>
                  <a:srgbClr val="1F2D3E"/>
                </a:solidFill>
                <a:latin typeface="Arial"/>
              </a:rPr>
              <a:t>After Review 1: implemented SAN move history and typed moves, stricter FEN validation, game clocks, premoves and a refined play 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05456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505456"/>
            <a:ext cx="1024128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0" b="0">
                <a:solidFill>
                  <a:srgbClr val="1F2D3E"/>
                </a:solidFill>
                <a:latin typeface="Arial"/>
              </a:rPr>
              <a:t>Matured search with guarded null-move pruning, a fixed 10 MB Zobrist transposition table and configurable draw contempt.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46704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346704"/>
            <a:ext cx="1024128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0" b="0">
                <a:solidFill>
                  <a:srgbClr val="1F2D3E"/>
                </a:solidFill>
                <a:latin typeface="Arial"/>
              </a:rPr>
              <a:t>Completed validation and benchmarking: seven standard perft positions, 53 automated tests, 17 search-test positions and 128 Stockfish games.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187952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187952"/>
            <a:ext cx="1024128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0" b="0">
                <a:solidFill>
                  <a:srgbClr val="1F2D3E"/>
                </a:solidFill>
                <a:latin typeface="Arial"/>
              </a:rPr>
              <a:t>Published the React + Web Worker app on Firebase Hosting; GitHub Actions now tests and builds before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29200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5029200"/>
            <a:ext cx="10241280" cy="7680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70" b="0">
                <a:solidFill>
                  <a:srgbClr val="1F2D3E"/>
                </a:solidFill>
                <a:latin typeface="Arial"/>
              </a:rPr>
              <a:t>Documented the work: the Phase I report and an IEEE-format journal paper (IEEEtran), both written from the measured results.</a:t>
            </a:r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9797"/>
              </p:ext>
            </p:extLst>
          </p:nvPr>
        </p:nvGraphicFramePr>
        <p:xfrm>
          <a:off x="623392" y="1755648"/>
          <a:ext cx="11089233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783080"/>
                <a:gridCol w="3246120"/>
                <a:gridCol w="2514600"/>
                <a:gridCol w="3042513"/>
              </a:tblGrid>
              <a:tr h="4389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No.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Author(s), Year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Paper Title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Method / Algorithm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D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Shannon (1950)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Programming a Computer for Playing Chess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Minimax + static evaluation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Full-width trees grow exponentially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D3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Zobrist (1970)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A New Hashing Method with Application for Game Playing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XOR-based position keys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Collisions; bounded storage needed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D3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Knuth &amp; Moore (1975)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An Analysis of Alpha-Beta Pruning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Formal α-β analysis; best case ≈ b^(d/2)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Benefit depends on move ordering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D3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Korf (1985)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Depth-First Iterative-Deepening: An Optimal Admissible Tree Search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Iterative deepening; anytime search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Shallow levels are re-searched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D3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Schaeffer (1989)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The History Heuristic and Alpha-Beta Search Enhancements in Practice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Move-ordering enhancements measured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Gains vary by position; tuning needed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559552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5D6875"/>
                </a:solidFill>
                <a:latin typeface="Arial"/>
              </a:rPr>
              <a:t>Sources and limitations adapted from Phase I Report, literature review (Table 2.1).</a:t>
            </a:r>
          </a:p>
        </p:txBody>
      </p:sp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9797"/>
              </p:ext>
            </p:extLst>
          </p:nvPr>
        </p:nvGraphicFramePr>
        <p:xfrm>
          <a:off x="623392" y="1755648"/>
          <a:ext cx="11089233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783080"/>
                <a:gridCol w="3246120"/>
                <a:gridCol w="2514600"/>
                <a:gridCol w="3042513"/>
              </a:tblGrid>
              <a:tr h="4389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No.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Author(s), Year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Paper Title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Method / Algorithm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D3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Beal (1990)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A Generalised Quiescence Search Algorithm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Selective search of tactical leaves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Extra search effort; checks remain a challenge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D3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Donninger (1993)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Null Move and Deep Search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Reduced-depth null-move pruning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Can fail in zugzwang and tactical traps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D3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Campbell, Hoane &amp; Hsu (2002)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Deep Blue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Parallel α-β on custom chess chips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Special hardware; closed system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D3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Coulom (2006)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Efficient Selectivity and Backup Operators in Monte-Carlo Tree Search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Monte-Carlo tree search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Random play-outs weak in sharp tactics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F2D3E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Silver et al. (2018)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A General Reinforcement Learning Algorithm that Masters Chess, Shogi, and Go through Self-Play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Self-play RL + neural-guided MCTS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D3E"/>
                          </a:solidFill>
                          <a:latin typeface="Arial"/>
                        </a:rPr>
                        <a:t>Heavy training; not interpretable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559552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D6875"/>
                </a:solidFill>
                <a:latin typeface="Arial"/>
              </a:rPr>
              <a:t>These studies motivate α-β with ordering, hashing, quiescence and guarded null move — all interpretable.</a:t>
            </a:r>
          </a:p>
        </p:txBody>
      </p:sp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 Research Gap and Project Response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645920"/>
            <a:ext cx="5052318" cy="155448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64592" rtlCol="0" anchor="ctr" wrap="square" bIns="54864"/>
          <a:lstStyle/>
          <a:p>
            <a:pPr algn="l">
              <a:defRPr sz="1700" b="1">
                <a:solidFill>
                  <a:srgbClr val="193054"/>
                </a:solidFill>
                <a:latin typeface="Aptos Display"/>
              </a:defRPr>
              <a:spcAft>
                <a:spcPts val="70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1. Literature findings</a:t>
            </a:r>
          </a:p>
          <a:p>
            <a:pPr algn="l">
              <a:spcAft>
                <a:spcPts val="0"/>
              </a:spcAft>
              <a:buNone/>
            </a:pPr>
            <a:r>
              <a:rPr sz="1639" b="0">
                <a:solidFill>
                  <a:srgbClr val="1F2D3E"/>
                </a:solidFill>
                <a:latin typeface="Arial"/>
              </a:rPr>
              <a:t>Minimax is exact; Alpha-Beta cuts search cost. Move ordering, hashing and selective search improve depth.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096000" y="1645920"/>
            <a:ext cx="5452872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64592" rtlCol="0" anchor="ctr" wrap="square" bIns="54864"/>
          <a:lstStyle/>
          <a:p>
            <a:pPr algn="l">
              <a:defRPr sz="1700" b="1">
                <a:solidFill>
                  <a:srgbClr val="193054"/>
                </a:solidFill>
                <a:latin typeface="Aptos Display"/>
              </a:defRPr>
              <a:spcAft>
                <a:spcPts val="70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2. Limitations</a:t>
            </a:r>
          </a:p>
          <a:p>
            <a:pPr algn="l">
              <a:spcAft>
                <a:spcPts val="0"/>
              </a:spcAft>
              <a:buNone/>
            </a:pPr>
            <a:r>
              <a:rPr sz="1639" b="0">
                <a:solidFill>
                  <a:srgbClr val="1F2D3E"/>
                </a:solidFill>
                <a:latin typeface="Arial"/>
              </a:rPr>
              <a:t>Pruning depends on ordering; search can miss threats; neural engines and closed systems are harder to explain.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66233" y="3657600"/>
            <a:ext cx="5177367" cy="173736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64592" rtlCol="0" anchor="ctr" wrap="square" bIns="54864"/>
          <a:lstStyle/>
          <a:p>
            <a:pPr algn="l">
              <a:defRPr sz="1700" b="1">
                <a:solidFill>
                  <a:srgbClr val="193054"/>
                </a:solidFill>
                <a:latin typeface="Aptos Display"/>
              </a:defRPr>
              <a:spcAft>
                <a:spcPts val="70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3. Refined research gap</a:t>
            </a:r>
          </a:p>
          <a:p>
            <a:pPr algn="l">
              <a:spcAft>
                <a:spcPts val="0"/>
              </a:spcAft>
              <a:buNone/>
            </a:pPr>
            <a:r>
              <a:rPr sz="1639" b="0">
                <a:solidFill>
                  <a:srgbClr val="1F2D3E"/>
                </a:solidFill>
                <a:latin typeface="Arial"/>
              </a:rPr>
              <a:t>A classroom-scale engine needs independently verified rules and a controlled, visible comparison of search optimisations.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199632" y="3657600"/>
            <a:ext cx="5349240" cy="173736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64592" rtlCol="0" anchor="ctr" wrap="square" bIns="54864"/>
          <a:lstStyle/>
          <a:p>
            <a:pPr algn="l">
              <a:defRPr sz="1700" b="1">
                <a:solidFill>
                  <a:srgbClr val="193054"/>
                </a:solidFill>
                <a:latin typeface="Aptos Display"/>
              </a:defRPr>
              <a:spcAft>
                <a:spcPts val="70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4. Progress toward the solution</a:t>
            </a:r>
          </a:p>
          <a:p>
            <a:pPr algn="l">
              <a:spcAft>
                <a:spcPts val="0"/>
              </a:spcAft>
              <a:buNone/>
            </a:pPr>
            <a:r>
              <a:rPr sz="1639" b="0">
                <a:solidFill>
                  <a:srgbClr val="1F2D3E"/>
                </a:solidFill>
                <a:latin typeface="Arial"/>
              </a:rPr>
              <a:t>Built all core components; verified perft and move equivalence; added teaching mode and automated checks.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System Architecture / 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331720" cy="111556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21488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D2A54"/>
                </a:solidFill>
                <a:latin typeface="Arial"/>
              </a:rPr>
              <a:t>React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68296"/>
            <a:ext cx="2075687" cy="612647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F2D3E"/>
                </a:solidFill>
                <a:latin typeface="Arial"/>
              </a:rPr>
              <a:t>Board, clocks, SAN, FEN, teaching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920240"/>
            <a:ext cx="2267712" cy="111556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2029968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D2A54"/>
                </a:solidFill>
                <a:latin typeface="Arial"/>
              </a:rPr>
              <a:t>Web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5" y="2368296"/>
            <a:ext cx="2011680" cy="612647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F2D3E"/>
                </a:solidFill>
                <a:latin typeface="Arial"/>
              </a:rPr>
              <a:t>Runs search off the UI thread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1920240"/>
            <a:ext cx="2377440" cy="111556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2029968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1">
                <a:solidFill>
                  <a:srgbClr val="0D2A54"/>
                </a:solidFill>
                <a:latin typeface="Arial"/>
              </a:rPr>
              <a:t>Search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68296"/>
            <a:ext cx="2121408" cy="612647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0" b="0">
                <a:solidFill>
                  <a:srgbClr val="1F2D3E"/>
                </a:solidFill>
                <a:latin typeface="Arial"/>
              </a:rPr>
              <a:t>Iterative deepening + Negamax / Alpha-Beta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2328" y="1920240"/>
            <a:ext cx="2084831" cy="111556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3767" y="2029968"/>
            <a:ext cx="1901951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9" b="1">
                <a:solidFill>
                  <a:srgbClr val="0D2A54"/>
                </a:solidFill>
                <a:latin typeface="Arial"/>
              </a:rPr>
              <a:t>Move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0344" y="2368296"/>
            <a:ext cx="1828799" cy="612647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40" b="0">
                <a:solidFill>
                  <a:srgbClr val="1F2D3E"/>
                </a:solidFill>
                <a:latin typeface="Arial"/>
              </a:rPr>
              <a:t>Best move, score, depth and nodes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2468880"/>
            <a:ext cx="594360" cy="0"/>
          </a:xfrm>
          <a:prstGeom prst="line">
            <a:avLst/>
          </a:prstGeom>
          <a:ln w="3048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3557015" y="2377440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71032" y="2468880"/>
            <a:ext cx="576072" cy="0"/>
          </a:xfrm>
          <a:prstGeom prst="line">
            <a:avLst/>
          </a:prstGeom>
          <a:ln w="3048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6400800" y="2377440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924544" y="2468880"/>
            <a:ext cx="557784" cy="0"/>
          </a:xfrm>
          <a:prstGeom prst="line">
            <a:avLst/>
          </a:prstGeom>
          <a:ln w="3048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9336024" y="2377440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3840480"/>
            <a:ext cx="2331720" cy="1088136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50208"/>
            <a:ext cx="21488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>
                <a:solidFill>
                  <a:srgbClr val="0D2A54"/>
                </a:solidFill>
                <a:latin typeface="Arial"/>
              </a:rPr>
              <a:t>Move generator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288536"/>
            <a:ext cx="2075687" cy="585215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0">
                <a:solidFill>
                  <a:srgbClr val="1F2D3E"/>
                </a:solidFill>
                <a:latin typeface="Arial"/>
              </a:rPr>
              <a:t>Legal actions; make / unmake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3840480"/>
            <a:ext cx="2331720" cy="1088136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950208"/>
            <a:ext cx="21488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>
                <a:solidFill>
                  <a:srgbClr val="0D2A54"/>
                </a:solidFill>
                <a:latin typeface="Arial"/>
              </a:rPr>
              <a:t>Heuristic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9896" y="4288536"/>
            <a:ext cx="2075687" cy="585215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0">
                <a:solidFill>
                  <a:srgbClr val="1F2D3E"/>
                </a:solidFill>
                <a:latin typeface="Arial"/>
              </a:rPr>
              <a:t>5 interpretable terms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840480"/>
            <a:ext cx="2331720" cy="1088136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950208"/>
            <a:ext cx="21488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>
                <a:solidFill>
                  <a:srgbClr val="0D2A54"/>
                </a:solidFill>
                <a:latin typeface="Arial"/>
              </a:rPr>
              <a:t>Search optimisation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4288536"/>
            <a:ext cx="2075687" cy="585215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0">
                <a:solidFill>
                  <a:srgbClr val="1F2D3E"/>
                </a:solidFill>
                <a:latin typeface="Arial"/>
              </a:rPr>
              <a:t>MVV-LVA, QS, null move, TT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840480"/>
            <a:ext cx="2331720" cy="1088136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950208"/>
            <a:ext cx="21488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>
                <a:solidFill>
                  <a:srgbClr val="0D2A54"/>
                </a:solidFill>
                <a:latin typeface="Arial"/>
              </a:rPr>
              <a:t>Verification &amp; 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4288536"/>
            <a:ext cx="2075687" cy="585215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0">
                <a:solidFill>
                  <a:srgbClr val="1F2D3E"/>
                </a:solidFill>
                <a:latin typeface="Arial"/>
              </a:rPr>
              <a:t>Perft, node:test, 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230368"/>
            <a:ext cx="107442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D6875"/>
                </a:solidFill>
                <a:latin typeface="Arial"/>
              </a:rPr>
              <a:t>All core game logic is self-written. The browser uses HTTPS static assets; no gameplay server or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82880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212848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D2A54"/>
                </a:solidFill>
                <a:latin typeface="Arial"/>
              </a:rP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51176"/>
            <a:ext cx="1572768" cy="5029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40" b="0">
                <a:solidFill>
                  <a:srgbClr val="1F2D3E"/>
                </a:solidFill>
                <a:latin typeface="Arial"/>
              </a:rPr>
              <a:t>Click, type SAN/UCI, choose FEN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2103120"/>
            <a:ext cx="2066543" cy="100584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212848"/>
            <a:ext cx="1883663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D2A54"/>
                </a:solidFill>
                <a:latin typeface="Arial"/>
              </a:rPr>
              <a:t>P1 · REACT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551176"/>
            <a:ext cx="1810511" cy="5029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0" b="0">
                <a:solidFill>
                  <a:srgbClr val="1F2D3E"/>
                </a:solidFill>
                <a:latin typeface="Arial"/>
              </a:rPr>
              <a:t>Input, rules feedback, display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2103120"/>
            <a:ext cx="2423160" cy="100584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59" y="2212848"/>
            <a:ext cx="224027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D2A54"/>
                </a:solidFill>
                <a:latin typeface="Arial"/>
              </a:rPr>
              <a:t>P2 · ENGINE 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0136" y="2551176"/>
            <a:ext cx="2167128" cy="5029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0" b="0">
                <a:solidFill>
                  <a:srgbClr val="1F2D3E"/>
                </a:solidFill>
                <a:latin typeface="Arial"/>
              </a:rPr>
              <a:t>Legal moves → search →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103120"/>
            <a:ext cx="2871216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2212848"/>
            <a:ext cx="268833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D2A54"/>
                </a:solidFill>
                <a:latin typeface="Arial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551176"/>
            <a:ext cx="2615184" cy="5029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0" b="0">
                <a:solidFill>
                  <a:srgbClr val="1F2D3E"/>
                </a:solidFill>
                <a:latin typeface="Arial"/>
              </a:rPr>
              <a:t>Board move + live telemetry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68880" y="2596896"/>
            <a:ext cx="475488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2798064" y="2505456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010912" y="2596896"/>
            <a:ext cx="521208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5385816" y="2505456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955279" y="2596896"/>
            <a:ext cx="621793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8430768" y="2505456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80944" y="4023360"/>
            <a:ext cx="2167128" cy="98755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72384" y="4133088"/>
            <a:ext cx="1984248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0D2A54"/>
                </a:solidFill>
                <a:latin typeface="Arial"/>
              </a:rPr>
              <a:t>D1 · GAME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471416"/>
            <a:ext cx="1911095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 b="0">
                <a:solidFill>
                  <a:srgbClr val="1F2D3E"/>
                </a:solidFill>
                <a:latin typeface="Arial"/>
              </a:rPr>
              <a:t>Position, clocks, repetition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2704" y="4023360"/>
            <a:ext cx="2377440" cy="98755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24144" y="4133088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0D2A54"/>
                </a:solidFill>
                <a:latin typeface="Arial"/>
              </a:rPr>
              <a:t>D2 · SEARCH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471416"/>
            <a:ext cx="2121408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 b="0">
                <a:solidFill>
                  <a:srgbClr val="1F2D3E"/>
                </a:solidFill>
                <a:latin typeface="Arial"/>
              </a:rPr>
              <a:t>Zobrist-hashed fixed-size table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86784" y="3127248"/>
            <a:ext cx="0" cy="896112"/>
          </a:xfrm>
          <a:prstGeom prst="line">
            <a:avLst/>
          </a:prstGeom>
          <a:ln w="24130">
            <a:solidFill>
              <a:srgbClr val="1D4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hevron 31"/>
          <p:cNvSpPr/>
          <p:nvPr/>
        </p:nvSpPr>
        <p:spPr>
          <a:xfrm>
            <a:off x="3840480" y="3931920"/>
            <a:ext cx="182880" cy="182880"/>
          </a:xfrm>
          <a:prstGeom prst="chevron">
            <a:avLst/>
          </a:prstGeom>
          <a:solidFill>
            <a:srgbClr val="1D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693408" y="3127248"/>
            <a:ext cx="0" cy="896112"/>
          </a:xfrm>
          <a:prstGeom prst="line">
            <a:avLst/>
          </a:prstGeom>
          <a:ln w="24130">
            <a:solidFill>
              <a:srgbClr val="1D4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hevron 33"/>
          <p:cNvSpPr/>
          <p:nvPr/>
        </p:nvSpPr>
        <p:spPr>
          <a:xfrm>
            <a:off x="6547104" y="3931920"/>
            <a:ext cx="182880" cy="182880"/>
          </a:xfrm>
          <a:prstGeom prst="chevron">
            <a:avLst/>
          </a:prstGeom>
          <a:solidFill>
            <a:srgbClr val="1D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413248"/>
            <a:ext cx="1083564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10" b="0">
                <a:solidFill>
                  <a:srgbClr val="5D6875"/>
                </a:solidFill>
                <a:latin typeface="Arial"/>
              </a:rPr>
              <a:t>Level 1 DFD · User requests a move; the worker reads board state and search cache, then returns a legal move and metrics.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 / Workflow Diagram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1965960" cy="117043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48256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0" b="1">
                <a:solidFill>
                  <a:srgbClr val="0D2A54"/>
                </a:solidFill>
                <a:latin typeface="Arial"/>
              </a:rPr>
              <a:t>01 ·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6584"/>
            <a:ext cx="1709928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Player move / FEN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9191" y="2523744"/>
            <a:ext cx="338329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2871215" y="2432303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3239" y="1938528"/>
            <a:ext cx="1965960" cy="117043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2048256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0" b="1">
                <a:solidFill>
                  <a:srgbClr val="0D2A54"/>
                </a:solidFill>
                <a:latin typeface="Arial"/>
              </a:rPr>
              <a:t>02 ·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256" y="2386584"/>
            <a:ext cx="1709928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Rules, legality, FEN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0" y="2523744"/>
            <a:ext cx="338327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5221223" y="2432303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13248" y="1938528"/>
            <a:ext cx="1965960" cy="117043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04688" y="2048256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0" b="1">
                <a:solidFill>
                  <a:srgbClr val="0D2A54"/>
                </a:solidFill>
                <a:latin typeface="Arial"/>
              </a:rPr>
              <a:t>03 ·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1264" y="2386584"/>
            <a:ext cx="1709928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Negamax + α-β + 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79208" y="2523744"/>
            <a:ext cx="338328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7571231" y="2432303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63255" y="1938528"/>
            <a:ext cx="1965960" cy="117043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5" y="2048256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0" b="1">
                <a:solidFill>
                  <a:srgbClr val="0D2A54"/>
                </a:solidFill>
                <a:latin typeface="Arial"/>
              </a:rPr>
              <a:t>04 · OPTIMISE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2386584"/>
            <a:ext cx="1709928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QS, TT, ordering, null move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29215" y="2523744"/>
            <a:ext cx="338328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9921239" y="2432303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13263" y="1938528"/>
            <a:ext cx="1965960" cy="117043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4703" y="2048256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0" b="1">
                <a:solidFill>
                  <a:srgbClr val="0D2A54"/>
                </a:solidFill>
                <a:latin typeface="Arial"/>
              </a:rPr>
              <a:t>05 ·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386584"/>
            <a:ext cx="1709928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Move + depth + 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895344"/>
            <a:ext cx="3291840" cy="105156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00507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D2A54"/>
                </a:solidFill>
                <a:latin typeface="Arial"/>
              </a:rPr>
              <a:t>BUILD /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4343400"/>
            <a:ext cx="3035808" cy="54863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F2D3E"/>
                </a:solidFill>
                <a:latin typeface="Arial"/>
              </a:rPr>
              <a:t>Node test suite → perft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3895344"/>
            <a:ext cx="3291840" cy="105156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00507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D2A54"/>
                </a:solidFill>
                <a:latin typeface="Arial"/>
              </a:rPr>
              <a:t>BENCHMARK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4343400"/>
            <a:ext cx="3035808" cy="54863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F2D3E"/>
                </a:solidFill>
                <a:latin typeface="Arial"/>
              </a:rPr>
              <a:t>17 positions; self-play; Stockfish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895344"/>
            <a:ext cx="3246120" cy="105156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005072"/>
            <a:ext cx="30632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D2A54"/>
                </a:solidFill>
                <a:latin typeface="Arial"/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6" y="4343400"/>
            <a:ext cx="2990087" cy="54863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F2D3E"/>
                </a:solidFill>
                <a:latin typeface="Arial"/>
              </a:rPr>
              <a:t>GitHub Actions → Firebase HTTPS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0" y="4407408"/>
            <a:ext cx="365760" cy="0"/>
          </a:xfrm>
          <a:prstGeom prst="line">
            <a:avLst/>
          </a:prstGeom>
          <a:ln w="25400">
            <a:solidFill>
              <a:srgbClr val="1D4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hevron 39"/>
          <p:cNvSpPr/>
          <p:nvPr/>
        </p:nvSpPr>
        <p:spPr>
          <a:xfrm>
            <a:off x="4334256" y="4315968"/>
            <a:ext cx="182880" cy="182880"/>
          </a:xfrm>
          <a:prstGeom prst="chevron">
            <a:avLst/>
          </a:prstGeom>
          <a:solidFill>
            <a:srgbClr val="1D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772400" y="4407408"/>
            <a:ext cx="365760" cy="0"/>
          </a:xfrm>
          <a:prstGeom prst="line">
            <a:avLst/>
          </a:prstGeom>
          <a:ln w="25400">
            <a:solidFill>
              <a:srgbClr val="1D4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evron 41"/>
          <p:cNvSpPr/>
          <p:nvPr/>
        </p:nvSpPr>
        <p:spPr>
          <a:xfrm>
            <a:off x="7991856" y="4315968"/>
            <a:ext cx="182880" cy="182880"/>
          </a:xfrm>
          <a:prstGeom prst="chevron">
            <a:avLst/>
          </a:prstGeom>
          <a:solidFill>
            <a:srgbClr val="1D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394960"/>
            <a:ext cx="104698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5D6875"/>
                </a:solidFill>
                <a:latin typeface="Arial"/>
              </a:rPr>
              <a:t>No dataset training or preprocessing is required; chess positions are rules-based test inputs.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783080"/>
            <a:ext cx="10241280" cy="76126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30" b="0">
                <a:solidFill>
                  <a:srgbClr val="1F2D3E"/>
                </a:solidFill>
                <a:latin typeface="Arial"/>
              </a:rPr>
              <a:t>Language and engine: JavaScript (ES modules), a custom 64-square board model and self-written search algorithms.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27228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27228"/>
            <a:ext cx="10241280" cy="76126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30" b="0">
                <a:solidFill>
                  <a:srgbClr val="1F2D3E"/>
                </a:solidFill>
                <a:latin typeface="Arial"/>
              </a:rPr>
              <a:t>Interface: React 19, Vite 8, CSS and the Web Workers API. Search runs without blocking the chessboard.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71376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671376"/>
            <a:ext cx="10241280" cy="76126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30" b="0">
                <a:solidFill>
                  <a:srgbClr val="1F2D3E"/>
                </a:solidFill>
                <a:latin typeface="Arial"/>
              </a:rPr>
              <a:t>Validation: Node.js 20 with node:test (53 cases), published perft suites, benchmarking scripts and Stockfish 19 as reference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15525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615525"/>
            <a:ext cx="10241280" cy="76126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30" b="0">
                <a:solidFill>
                  <a:srgbClr val="1F2D3E"/>
                </a:solidFill>
                <a:latin typeface="Arial"/>
              </a:rPr>
              <a:t>Delivery: Git/GitHub, GitHub Actions and Firebase Hosting. No GPU, external chess library or ML dataset is required.</a:t>
            </a:r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50392" y="1664208"/>
            <a:ext cx="10515600" cy="539496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1764792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55648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Board and move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78308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2304288"/>
            <a:ext cx="10515600" cy="5394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404872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95728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Five-term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2316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2944368"/>
            <a:ext cx="10515600" cy="539496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3044951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035808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Adversarial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063239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3584448"/>
            <a:ext cx="10515600" cy="5394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685032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675887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Search optimisation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70332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" y="4224528"/>
            <a:ext cx="10515600" cy="539496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" y="4325112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15968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UI, teaching mode and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34340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" y="4864608"/>
            <a:ext cx="10515600" cy="5394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" y="4965192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956048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Verification and benchmarks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98348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05856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90" b="0">
                <a:solidFill>
                  <a:srgbClr val="5D6875"/>
                </a:solidFill>
                <a:latin typeface="Arial"/>
              </a:rPr>
              <a:t>Scope follows the Phase I Report module mapping (M1–M6). Open security items are in the work plan.</a:t>
            </a:r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Module Implementation – Part 1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239512" cy="100584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505663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1">
                <a:solidFill>
                  <a:srgbClr val="0D2A54"/>
                </a:solidFill>
                <a:latin typeface="Arial"/>
              </a:rPr>
              <a:t>MODULE 1 · GAME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112264"/>
            <a:ext cx="4983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60" b="0">
                <a:solidFill>
                  <a:srgbClr val="1F2D3E"/>
                </a:solidFill>
                <a:latin typeface="Arial"/>
              </a:rPr>
              <a:t>64-square array · legal moves · castling · en passant · promotion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193792" cy="100584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773936"/>
            <a:ext cx="50109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1">
                <a:solidFill>
                  <a:srgbClr val="0D2A54"/>
                </a:solidFill>
                <a:latin typeface="Arial"/>
              </a:rPr>
              <a:t>MODULE 2 · HEURISTICS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112264"/>
            <a:ext cx="4937759" cy="5029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60" b="0">
                <a:solidFill>
                  <a:srgbClr val="1F2D3E"/>
                </a:solidFill>
                <a:latin typeface="Arial"/>
              </a:rPr>
              <a:t>Material · piece-square tables · pawn structure · king safety · mobility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5074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80" b="1">
                <a:solidFill>
                  <a:srgbClr val="0D2A54"/>
                </a:solidFill>
                <a:latin typeface="Arial"/>
              </a:rPr>
              <a:t>Board &amp; move-generation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383280"/>
            <a:ext cx="5120640" cy="155448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0">
                <a:solidFill>
                  <a:srgbClr val="1F2D3E"/>
                </a:solidFill>
                <a:latin typeface="Arial"/>
              </a:rPr>
              <a:t>• FEN/SAN import, output and validation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0">
                <a:solidFill>
                  <a:srgbClr val="1F2D3E"/>
                </a:solidFill>
                <a:latin typeface="Arial"/>
              </a:rPr>
              <a:t>• makeMove() / unmakeMove()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0">
                <a:solidFill>
                  <a:srgbClr val="1F2D3E"/>
                </a:solidFill>
                <a:latin typeface="Arial"/>
              </a:rPr>
              <a:t>• Legality checked against king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926080"/>
            <a:ext cx="4928616" cy="41148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80" b="1">
                <a:solidFill>
                  <a:srgbClr val="0D2A54"/>
                </a:solidFill>
                <a:latin typeface="Arial"/>
              </a:rPr>
              <a:t>Heuristic position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3383280"/>
            <a:ext cx="4892040" cy="155448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0">
                <a:solidFill>
                  <a:srgbClr val="1F2D3E"/>
                </a:solidFill>
                <a:latin typeface="Arial"/>
              </a:rPr>
              <a:t>• Returns centipawn evaluation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0">
                <a:solidFill>
                  <a:srgbClr val="1F2D3E"/>
                </a:solidFill>
                <a:latin typeface="Arial"/>
              </a:rPr>
              <a:t>• White and Black piece-square orientation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0">
                <a:solidFill>
                  <a:srgbClr val="1F2D3E"/>
                </a:solidFill>
                <a:latin typeface="Arial"/>
              </a:rPr>
              <a:t>• Per-term breakdown in teaching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212080"/>
            <a:ext cx="1060704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0">
                <a:solidFill>
                  <a:srgbClr val="1D4980"/>
                </a:solidFill>
                <a:latin typeface="Arial"/>
              </a:rPr>
              <a:t>Verification: self-built legal move generator matches published perft counts for all seven standard positions.</a:t>
            </a:r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Module Implementation – Part 2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664208"/>
            <a:ext cx="5212080" cy="102412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73936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1">
                <a:solidFill>
                  <a:srgbClr val="0D2A54"/>
                </a:solidFill>
                <a:latin typeface="Arial"/>
              </a:rPr>
              <a:t>MODULE 3 · ADVERSARIAL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12264"/>
            <a:ext cx="4956048" cy="5212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Iterative Deepening → Negamax + Alpha-Beta → Quiescence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664208"/>
            <a:ext cx="5257800" cy="102412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1773936"/>
            <a:ext cx="5074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9" b="1">
                <a:solidFill>
                  <a:srgbClr val="0D2A54"/>
                </a:solidFill>
                <a:latin typeface="Arial"/>
              </a:rPr>
              <a:t>MODULE 4 · OPTIMISATION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3" y="2112264"/>
            <a:ext cx="5001768" cy="5212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0" b="0">
                <a:solidFill>
                  <a:srgbClr val="1F2D3E"/>
                </a:solidFill>
                <a:latin typeface="Arial"/>
              </a:rPr>
              <a:t>Hash move + MVV-LVA, 10 MB Zobrist TT, guarded null-move pruning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7180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D2A54"/>
                </a:solidFill>
                <a:latin typeface="Arial"/>
              </a:rPr>
              <a:t>Core decision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438144"/>
            <a:ext cx="4937760" cy="16733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60" b="0">
                <a:solidFill>
                  <a:srgbClr val="1F2D3E"/>
                </a:solidFill>
                <a:latin typeface="Arial"/>
              </a:rPr>
              <a:t>1. Generate legal candidate moves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60" b="0">
                <a:solidFill>
                  <a:srgbClr val="1F2D3E"/>
                </a:solidFill>
                <a:latin typeface="Arial"/>
              </a:rPr>
              <a:t>2. Order moves; probe cached states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60" b="0">
                <a:solidFill>
                  <a:srgbClr val="1F2D3E"/>
                </a:solidFill>
                <a:latin typeface="Arial"/>
              </a:rPr>
              <a:t>3. Search with alpha / beta cutoffs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60" b="0">
                <a:solidFill>
                  <a:srgbClr val="1F2D3E"/>
                </a:solidFill>
                <a:latin typeface="Arial"/>
              </a:rPr>
              <a:t>4. Retain the last complete iteration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971800"/>
            <a:ext cx="475488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D2A54"/>
                </a:solidFill>
                <a:latin typeface="Arial"/>
              </a:rPr>
              <a:t>Implementation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3419856"/>
            <a:ext cx="4791456" cy="1856231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0" b="0">
                <a:solidFill>
                  <a:srgbClr val="1F2D3E"/>
                </a:solidFill>
                <a:latin typeface="Arial"/>
              </a:rPr>
              <a:t>• 79 / 79: identical move and score vs plain Minimax for exact-search settings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0" b="0">
                <a:solidFill>
                  <a:srgbClr val="1F2D3E"/>
                </a:solidFill>
                <a:latin typeface="Arial"/>
              </a:rPr>
              <a:t>• 10 MB fixed TT avoids unbounded growth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0" b="0">
                <a:solidFill>
                  <a:srgbClr val="1F2D3E"/>
                </a:solidFill>
                <a:latin typeface="Arial"/>
              </a:rPr>
              <a:t>• Null-move guard protects sharp mates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68112"/>
            <a:ext cx="1065276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20" b="0">
                <a:solidFill>
                  <a:srgbClr val="5D6875"/>
                </a:solidFill>
                <a:latin typeface="Arial"/>
              </a:rPr>
              <a:t>Module 6 runs controlled experiments; Module 5 streams the selected move and search telemetry to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Preliminary Results and Discussion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105156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0D2A54"/>
                </a:solidFill>
                <a:latin typeface="Arial"/>
              </a:rPr>
              <a:t>Starting position · fixed depth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084831"/>
            <a:ext cx="3447288" cy="171907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231136"/>
            <a:ext cx="32461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Plain Minimax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60904"/>
            <a:ext cx="3246120" cy="51206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70" b="1">
                <a:solidFill>
                  <a:srgbClr val="C10000"/>
                </a:solidFill>
                <a:latin typeface="Arial"/>
              </a:rPr>
              <a:t>5,072,213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291840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>
                <a:solidFill>
                  <a:srgbClr val="5D6875"/>
                </a:solidFill>
                <a:latin typeface="Arial"/>
              </a:rPr>
              <a:t>baseline  ·  15.0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2084831"/>
            <a:ext cx="3447288" cy="171907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231136"/>
            <a:ext cx="32461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Alpha-Beta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660904"/>
            <a:ext cx="3246120" cy="51206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70" b="1">
                <a:solidFill>
                  <a:srgbClr val="0D2A54"/>
                </a:solidFill>
                <a:latin typeface="Arial"/>
              </a:rPr>
              <a:t>113,360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291840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>
                <a:solidFill>
                  <a:srgbClr val="5D6875"/>
                </a:solidFill>
                <a:latin typeface="Arial"/>
              </a:rPr>
              <a:t>45× fewer nodes  ·  0.42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2084831"/>
            <a:ext cx="3447288" cy="171907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2231136"/>
            <a:ext cx="32461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Alpha-Beta + ordering +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660904"/>
            <a:ext cx="3246120" cy="51206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70" b="1">
                <a:solidFill>
                  <a:srgbClr val="0D2A54"/>
                </a:solidFill>
                <a:latin typeface="Arial"/>
              </a:rPr>
              <a:t>58,390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291840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>
                <a:solidFill>
                  <a:srgbClr val="5D6875"/>
                </a:solidFill>
                <a:latin typeface="Arial"/>
              </a:rPr>
              <a:t>87× fewer nodes  ·  0.28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59936"/>
            <a:ext cx="3246120" cy="129844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160520"/>
            <a:ext cx="3026663" cy="44805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50" b="1">
                <a:solidFill>
                  <a:srgbClr val="0D2A54"/>
                </a:solidFill>
                <a:latin typeface="Arial"/>
              </a:rPr>
              <a:t>110.6×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90872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90" b="0">
                <a:solidFill>
                  <a:srgbClr val="5D6875"/>
                </a:solidFill>
                <a:latin typeface="Arial"/>
              </a:rPr>
              <a:t>mean depth-4 saving on 17 positions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4059936"/>
            <a:ext cx="3246120" cy="129844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4160520"/>
            <a:ext cx="3026663" cy="44805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50" b="1">
                <a:solidFill>
                  <a:srgbClr val="0D2A54"/>
                </a:solidFill>
                <a:latin typeface="Arial"/>
              </a:rPr>
              <a:t>79 / 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690872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90" b="0">
                <a:solidFill>
                  <a:srgbClr val="5D6875"/>
                </a:solidFill>
                <a:latin typeface="Arial"/>
              </a:rPr>
              <a:t>exact-search agreement with Minimax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8" y="4059936"/>
            <a:ext cx="3246120" cy="129844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4160520"/>
            <a:ext cx="3026663" cy="44805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50" b="1">
                <a:solidFill>
                  <a:srgbClr val="0D2A54"/>
                </a:solidFill>
                <a:latin typeface="Arial"/>
              </a:rPr>
              <a:t>~1600–1700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690872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90" b="0">
                <a:solidFill>
                  <a:srgbClr val="5D6875"/>
                </a:solidFill>
                <a:latin typeface="Arial"/>
              </a:rPr>
              <a:t>Stockfish calibrated scale · 1 s / move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532120"/>
            <a:ext cx="10661904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0">
                <a:solidFill>
                  <a:srgbClr val="5D6875"/>
                </a:solidFill>
                <a:latin typeface="Arial"/>
              </a:rPr>
              <a:t>53 automated tests · 7/7 standard perft positions · 128 Stockfish benchmark games. Results from Phase I Report.</a:t>
            </a:r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7" name="Rounded Rectangle 6"/>
          <p:cNvSpPr/>
          <p:nvPr/>
        </p:nvSpPr>
        <p:spPr>
          <a:xfrm>
            <a:off x="658368" y="1746504"/>
            <a:ext cx="5394960" cy="4133087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1746504"/>
            <a:ext cx="5394960" cy="4133087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1920240"/>
            <a:ext cx="4617720" cy="3447288"/>
          </a:xfrm>
          <a:prstGeom prst="rect">
            <a:avLst/>
          </a:prstGeom>
        </p:spPr>
      </p:pic>
      <p:pic>
        <p:nvPicPr>
          <p:cNvPr id="10" name="Picture 9" descr="teac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20240"/>
            <a:ext cx="3602736" cy="34472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" y="5522976"/>
            <a:ext cx="5212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0">
                <a:solidFill>
                  <a:srgbClr val="1D4980"/>
                </a:solidFill>
                <a:latin typeface="Arial"/>
              </a:rPr>
              <a:t>Play screen: clocks, SAN history and engine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522976"/>
            <a:ext cx="52578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0">
                <a:solidFill>
                  <a:srgbClr val="1D4980"/>
                </a:solidFill>
                <a:latin typeface="Arial"/>
              </a:rPr>
              <a:t>Teaching mode: search-cost comparison and FEN presets</a:t>
            </a:r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Challenges Faced and Solutions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41248" y="1764792"/>
            <a:ext cx="10497312" cy="859536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1856231"/>
            <a:ext cx="288036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1">
                <a:solidFill>
                  <a:srgbClr val="0D2A54"/>
                </a:solidFill>
                <a:latin typeface="Arial"/>
              </a:rPr>
              <a:t>Horizon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1856231"/>
            <a:ext cx="7114032" cy="62179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0">
                <a:solidFill>
                  <a:srgbClr val="1F2D3E"/>
                </a:solidFill>
                <a:latin typeface="Arial"/>
              </a:rPr>
              <a:t>Capture-only quiescence extends tactical exchanges; remaining blind spot: checks at leaves.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734056"/>
            <a:ext cx="10497312" cy="8595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825496"/>
            <a:ext cx="288036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1">
                <a:solidFill>
                  <a:srgbClr val="0D2A54"/>
                </a:solidFill>
                <a:latin typeface="Arial"/>
              </a:rPr>
              <a:t>Null-move tactical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2825496"/>
            <a:ext cx="7114032" cy="62179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0">
                <a:solidFill>
                  <a:srgbClr val="1F2D3E"/>
                </a:solidFill>
                <a:latin typeface="Arial"/>
              </a:rPr>
              <a:t>A too-permissive guard missed a mate; fixed with a minimum four-ply condition.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703320"/>
            <a:ext cx="10497312" cy="859536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4759"/>
            <a:ext cx="288036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1">
                <a:solidFill>
                  <a:srgbClr val="0D2A54"/>
                </a:solidFill>
                <a:latin typeface="Arial"/>
              </a:rPr>
              <a:t>Hash-table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3794759"/>
            <a:ext cx="7114032" cy="62179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0">
                <a:solidFill>
                  <a:srgbClr val="1F2D3E"/>
                </a:solidFill>
                <a:latin typeface="Arial"/>
              </a:rPr>
              <a:t>Switched Zobrist key generation to Mulberry32; bounded the table to 10 MB.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672584"/>
            <a:ext cx="10497312" cy="8595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4764024"/>
            <a:ext cx="288036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1">
                <a:solidFill>
                  <a:srgbClr val="0D2A54"/>
                </a:solidFill>
                <a:latin typeface="Arial"/>
              </a:rPr>
              <a:t>UI + delivery 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4764024"/>
            <a:ext cx="7114032" cy="62179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80" b="0">
                <a:solidFill>
                  <a:srgbClr val="1F2D3E"/>
                </a:solidFill>
                <a:latin typeface="Arial"/>
              </a:rPr>
              <a:t>SVG pieces, better mobile rendering, corrected cache rules; tests gate CI builds.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715000"/>
            <a:ext cx="105613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5D6875"/>
                </a:solidFill>
                <a:latin typeface="Arial"/>
              </a:rPr>
              <a:t>Remaining: search checks in quiescence; improve quiet move ordering; strengthen CI/CD security headers and credentials.</a:t>
            </a:r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Work Plan Until Final Review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13816" y="1764792"/>
            <a:ext cx="10570464" cy="886968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92807"/>
            <a:ext cx="310896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1 · SEARCH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883664"/>
            <a:ext cx="7004304" cy="5943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1F2D3E"/>
                </a:solidFill>
                <a:latin typeface="Arial"/>
              </a:rPr>
              <a:t>Implement check evasions in quiescence; add killer/history ordering and check extensions.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" y="2752344"/>
            <a:ext cx="10570464" cy="8869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880360"/>
            <a:ext cx="310896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2 · OPTIMISATION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871215"/>
            <a:ext cx="7004304" cy="5943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1F2D3E"/>
                </a:solidFill>
                <a:latin typeface="Arial"/>
              </a:rPr>
              <a:t>Update Zobrist hashes incrementally; display only the last completed iteration depth.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" y="3739896"/>
            <a:ext cx="10570464" cy="886968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67911"/>
            <a:ext cx="310896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3 ·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858768"/>
            <a:ext cx="7004304" cy="5943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1F2D3E"/>
                </a:solidFill>
                <a:latin typeface="Arial"/>
              </a:rPr>
              <a:t>Tighten deployment to main pushes; add CSP headers, scoped credentials and dependency scanning.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" y="4727448"/>
            <a:ext cx="10570464" cy="8869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55464"/>
            <a:ext cx="310896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4 · FINAL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846320"/>
            <a:ext cx="7004304" cy="5943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1F2D3E"/>
                </a:solidFill>
                <a:latin typeface="Arial"/>
              </a:rPr>
              <a:t>Finalise and submit the IEEE paper; broaden benchmarks to other opponents and time limits; rehearse the demo.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797296"/>
            <a:ext cx="10524744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 b="0">
                <a:solidFill>
                  <a:srgbClr val="5D6875"/>
                </a:solidFill>
                <a:latin typeface="Arial"/>
              </a:rPr>
              <a:t>Milestones from Phase I Report, Chapter 5. Engine, deployment, report and IEEE paper draft are done.</a:t>
            </a:r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69880" cy="420624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[1] C. E. Shannon, “Programming a Computer for Playing Chess,” Philosophical Magazine, 1950.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[2] A. L. Zobrist, “A New Hashing Method with Application for Game Playing,” Tech. Rep. 88, Univ. of Wisconsin, 1970.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[3] D. E. Knuth and R. W. Moore, “An Analysis of Alpha-Beta Pruning,” Artificial Intelligence, 1975.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[4] R. E. Korf, “Depth-First Iterative-Deepening: An Optimal Admissible Tree Search,” Artificial Intelligence, 1985.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[5] J. Schaeffer, “The History Heuristic and Alpha-Beta Search Enhancements in Practice,” IEEE TPAMI, 1989.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[6] D. F. Beal, “A Generalised Quiescence Search Algorithm,” Artificial Intelligence, 1990.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[7] C. Donninger, “Null Move and Deep Search,” ICCA Journal, 1993.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[8] M. Campbell, A. J. Hoane Jr. and F. Hsu, “Deep Blue,” Artificial Intelligence, 2002.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[9] R. Coulom, “Efficient Selectivity and Backup Operators in Monte-Carlo Tree Search,” Computers and Games, 2006.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[10] D. Silver et al., “A General Reinforcement Learning Algorithm that Masters Chess, Shogi, and Go through Self-Play,” Science, 2018.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[11] S. Russell and P. Norvig, Artificial Intelligence: A Modern Approach, 4th ed., Pearson, 2020.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[12] A. Shostack, Threat Modeling: Designing for Security, Wiley, 2014.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[13] Chess Programming Wiki, “Perft Results,” chessprogramming.org/Perft_Results.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[14] The Stockfish developers, Stockfish 19 (reference engine for benchmarks), stockfishchess.org.</a:t>
            </a:r>
          </a:p>
          <a:p>
            <a:pPr algn="l" marL="411480" indent="-41148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>
                <a:solidFill>
                  <a:srgbClr val="1F2D3E"/>
                </a:solidFill>
                <a:latin typeface="Arial"/>
              </a:rPr>
              <a:t>[15] SaIdEeVaN, FOAI-Project (source, benchmarks and REPORT.md), github.com/SaIdEeVaN/FOAI-Project.</a:t>
            </a:r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87552" y="4343400"/>
            <a:ext cx="10149840" cy="46634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0D2A54"/>
                </a:solidFill>
                <a:latin typeface="Arial"/>
              </a:rPr>
              <a:t>Adversarial State-Space Optimization in Chess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910328"/>
            <a:ext cx="8531352" cy="42062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1D4980"/>
                </a:solidFill>
                <a:latin typeface="Arial"/>
              </a:rPr>
              <a:t>Live demo: foai-chess-engine.web.app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340096"/>
            <a:ext cx="926287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0">
                <a:solidFill>
                  <a:srgbClr val="5D6875"/>
                </a:solidFill>
                <a:latin typeface="Arial"/>
              </a:rPr>
              <a:t>Code and experiments: github.com/SaIdEeVaN/FOAI-Project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Results and Discussion – Experiments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658368" y="1645920"/>
            <a:ext cx="5367528" cy="2926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" y="1682496"/>
          <a:ext cx="5257800" cy="28529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199632" y="1645920"/>
            <a:ext cx="5367528" cy="2926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54496" y="1682496"/>
          <a:ext cx="5257800" cy="28529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58368" y="4736592"/>
            <a:ext cx="3493008" cy="102412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09744"/>
            <a:ext cx="3346704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50" b="1">
                <a:solidFill>
                  <a:srgbClr val="0D2A54"/>
                </a:solidFill>
                <a:latin typeface="Arial"/>
              </a:rPr>
              <a:t>+132 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2"/>
            <a:ext cx="3346704" cy="3657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90" b="0">
                <a:solidFill>
                  <a:srgbClr val="5D6875"/>
                </a:solidFill>
                <a:latin typeface="Arial"/>
              </a:rPr>
              <a:t>null-move pruning · 80 self-play games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9684" y="4736592"/>
            <a:ext cx="3493008" cy="102412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2836" y="4809744"/>
            <a:ext cx="3346704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50" b="1">
                <a:solidFill>
                  <a:srgbClr val="0D2A54"/>
                </a:solidFill>
                <a:latin typeface="Arial"/>
              </a:rPr>
              <a:t>+93 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2836" y="5285232"/>
            <a:ext cx="3346704" cy="3657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90" b="0">
                <a:solidFill>
                  <a:srgbClr val="5D6875"/>
                </a:solidFill>
                <a:latin typeface="Arial"/>
              </a:rPr>
              <a:t>final engine vs previous build · 80 games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4736592"/>
            <a:ext cx="3493008" cy="102412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4809744"/>
            <a:ext cx="3346704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50" b="1">
                <a:solidFill>
                  <a:srgbClr val="0D2A54"/>
                </a:solidFill>
                <a:latin typeface="Arial"/>
              </a:rPr>
              <a:t>94 / 105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5285232"/>
            <a:ext cx="3346704" cy="3657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90" b="0">
                <a:solidFill>
                  <a:srgbClr val="5D6875"/>
                </a:solidFill>
                <a:latin typeface="Arial"/>
              </a:rPr>
              <a:t>tactical suite solved at 5 s per move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815584"/>
            <a:ext cx="10661904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0">
                <a:solidFill>
                  <a:srgbClr val="5D6875"/>
                </a:solidFill>
                <a:latin typeface="Arial"/>
              </a:rPr>
              <a:t>Left: geometric mean over 17 positions. Right: 32 games per setting; pooled rating 1697 ± 72, reported as ~1600–1700.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Security Analysis (STRIDE)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9797"/>
              </p:ext>
            </p:extLst>
          </p:nvPr>
        </p:nvGraphicFramePr>
        <p:xfrm>
          <a:off x="623392" y="1755648"/>
          <a:ext cx="11089233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337560"/>
                <a:gridCol w="777240"/>
                <a:gridCol w="3611880"/>
                <a:gridCol w="1625193"/>
              </a:tblGrid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Entry point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STRIDE threat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D3E"/>
                          </a:solidFill>
                          <a:latin typeface="Arial"/>
                        </a:rPr>
                        <a:t>npm dependencies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Tampering – compromised package in build or bundle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Lockfile install (npm ci); 53 tests before every build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F7D4F"/>
                          </a:solidFill>
                          <a:latin typeface="Arial"/>
                        </a:rPr>
                        <a:t>In place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D3E"/>
                          </a:solidFill>
                          <a:latin typeface="Arial"/>
                        </a:rPr>
                        <a:t>CI deploy secret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Information disclosure – leaked token can publish the site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Encrypted GitHub secret; scoped service account next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B7791F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D3E"/>
                          </a:solidFill>
                          <a:latin typeface="Arial"/>
                        </a:rPr>
                        <a:t>Workflow trigger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Elevation – deploy step also runs on pull requests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Deploy only on push to main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D3E"/>
                          </a:solidFill>
                          <a:latin typeface="Arial"/>
                        </a:rPr>
                        <a:t>Headers &amp; fonts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Information disclosure – no CSP; third-party font request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CSP, nosniff, Referrer-Policy; self-hosted fonts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D3E"/>
                          </a:solidFill>
                          <a:latin typeface="Arial"/>
                        </a:rPr>
                        <a:t>Typed moves &amp; FEN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Tampering – malformed input corrupts game state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FEN validation; legal-move matching; React escaping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F7D4F"/>
                          </a:solidFill>
                          <a:latin typeface="Arial"/>
                        </a:rPr>
                        <a:t>In place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D3E"/>
                          </a:solidFill>
                          <a:latin typeface="Arial"/>
                        </a:rPr>
                        <a:t>Engine worker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Denial of service – runaway search freezes the page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Web Worker, time budget, 60 s cap, fixed 10 MB table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F7D4F"/>
                          </a:solidFill>
                          <a:latin typeface="Arial"/>
                        </a:rPr>
                        <a:t>In place</a:t>
                      </a:r>
                    </a:p>
                  </a:txBody>
                  <a:tcPr marR="45720" marT="64008" anchor="ctr" marL="64008" marB="27432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2D3E"/>
                          </a:solidFill>
                          <a:latin typeface="Arial"/>
                        </a:rPr>
                        <a:t>Release pipeline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Tampering – engine or rules regression reaches users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D3E"/>
                          </a:solidFill>
                          <a:latin typeface="Arial"/>
                        </a:rPr>
                        <a:t>Perft + 53-test gate on every deploy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2F7D4F"/>
                          </a:solidFill>
                          <a:latin typeface="Arial"/>
                        </a:rPr>
                        <a:t>In place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5D6875"/>
                </a:solidFill>
                <a:latin typeface="Arial"/>
              </a:rPr>
              <a:t>Client-side only: no backend, accounts or stored personal data — game state never leaves the browser.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746</Words>
  <Application>Microsoft Office PowerPoint</Application>
  <PresentationFormat>Widescreen</PresentationFormat>
  <Paragraphs>140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Calibri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16</cp:revision>
  <dcterms:modified xsi:type="dcterms:W3CDTF">2026-10-13T06:01:55Z</dcterms:modified>
</cp:coreProperties>
</file>
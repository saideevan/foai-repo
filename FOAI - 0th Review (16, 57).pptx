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1698" y="613105"/>
            <a:ext cx="8388603" cy="6983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F386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1819275"/>
            <a:ext cx="10456545" cy="4036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344" y="6466738"/>
            <a:ext cx="39033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Home | Rajalakshmi Engineering College (REC)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9057" y="554106"/>
            <a:ext cx="3422771" cy="10501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82544" y="1593860"/>
            <a:ext cx="6163310" cy="1398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285" marR="5080" indent="-363220">
              <a:lnSpc>
                <a:spcPct val="112599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Department</a:t>
            </a:r>
            <a:r>
              <a:rPr sz="4000" spc="-4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of</a:t>
            </a:r>
            <a:r>
              <a:rPr sz="4000" spc="-5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Cyber</a:t>
            </a:r>
            <a:r>
              <a:rPr sz="4000" spc="-35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Security </a:t>
            </a:r>
            <a:r>
              <a:rPr sz="4000" dirty="0">
                <a:solidFill>
                  <a:srgbClr val="000000"/>
                </a:solidFill>
              </a:rPr>
              <a:t>2026-2027-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Odd</a:t>
            </a:r>
            <a:r>
              <a:rPr sz="4000" spc="-30" dirty="0">
                <a:solidFill>
                  <a:srgbClr val="000000"/>
                </a:solidFill>
              </a:rPr>
              <a:t> </a:t>
            </a:r>
            <a:r>
              <a:rPr sz="4000" spc="-10" dirty="0">
                <a:solidFill>
                  <a:srgbClr val="000000"/>
                </a:solidFill>
              </a:rPr>
              <a:t>Semester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07055" y="2938603"/>
            <a:ext cx="7894320" cy="19284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571500" algn="ctr">
              <a:lnSpc>
                <a:spcPct val="100000"/>
              </a:lnSpc>
              <a:spcBef>
                <a:spcPts val="915"/>
              </a:spcBef>
            </a:pPr>
            <a:r>
              <a:rPr sz="4000" dirty="0">
                <a:latin typeface="Times New Roman"/>
                <a:cs typeface="Times New Roman"/>
              </a:rPr>
              <a:t>III</a:t>
            </a:r>
            <a:r>
              <a:rPr sz="4000" spc="-235" dirty="0">
                <a:latin typeface="Times New Roman"/>
                <a:cs typeface="Times New Roman"/>
              </a:rPr>
              <a:t> </a:t>
            </a:r>
            <a:r>
              <a:rPr sz="4000" spc="-60" dirty="0">
                <a:latin typeface="Times New Roman"/>
                <a:cs typeface="Times New Roman"/>
              </a:rPr>
              <a:t>Year</a:t>
            </a:r>
            <a:r>
              <a:rPr sz="4000" spc="-9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/V</a:t>
            </a:r>
            <a:r>
              <a:rPr sz="4000" spc="-16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Sem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800" b="1" spc="-25" dirty="0">
                <a:latin typeface="Calibri"/>
                <a:cs typeface="Calibri"/>
              </a:rPr>
              <a:t>CS23533-FOUNDATIONS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ARTIFICIAL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INTELLIGENCE</a:t>
            </a:r>
            <a:endParaRPr sz="2800">
              <a:latin typeface="Calibri"/>
              <a:cs typeface="Calibri"/>
            </a:endParaRPr>
          </a:p>
          <a:p>
            <a:pPr marR="94615" algn="ctr">
              <a:lnSpc>
                <a:spcPct val="100000"/>
              </a:lnSpc>
              <a:spcBef>
                <a:spcPts val="625"/>
              </a:spcBef>
            </a:pPr>
            <a:r>
              <a:rPr sz="4000" dirty="0">
                <a:latin typeface="Times New Roman"/>
                <a:cs typeface="Times New Roman"/>
              </a:rPr>
              <a:t>Zeroth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Review</a:t>
            </a:r>
            <a:r>
              <a:rPr sz="4000" spc="-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–</a:t>
            </a:r>
            <a:r>
              <a:rPr sz="4000" spc="-10" dirty="0">
                <a:latin typeface="Times New Roman"/>
                <a:cs typeface="Times New Roman"/>
              </a:rPr>
              <a:t> 31.07.2026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Home | Rajalakshmi Engineering College (REC)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7725" y="554106"/>
            <a:ext cx="4644356" cy="10501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" y="2230069"/>
            <a:ext cx="12192000" cy="5131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200" b="1" spc="-10" dirty="0">
                <a:solidFill>
                  <a:srgbClr val="000000"/>
                </a:solidFill>
                <a:latin typeface="Calibri"/>
                <a:cs typeface="Calibri"/>
              </a:rPr>
              <a:t>Adversarial State-Space Optimization in Chess Environments</a:t>
            </a:r>
            <a:endParaRPr lang="en-IN"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3602" y="3251745"/>
            <a:ext cx="4135120" cy="1090683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000" b="1" dirty="0">
                <a:latin typeface="Times New Roman"/>
                <a:cs typeface="Times New Roman"/>
              </a:rPr>
              <a:t>Batch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Members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 dirty="0">
              <a:latin typeface="Times New Roman"/>
              <a:cs typeface="Times New Roman"/>
            </a:endParaRPr>
          </a:p>
          <a:p>
            <a:pPr marL="203200" indent="-193675">
              <a:lnSpc>
                <a:spcPct val="100000"/>
              </a:lnSpc>
              <a:spcBef>
                <a:spcPts val="409"/>
              </a:spcBef>
              <a:buSzPct val="95000"/>
              <a:buAutoNum type="arabicPeriod"/>
              <a:tabLst>
                <a:tab pos="203200" algn="l"/>
              </a:tabLst>
            </a:pPr>
            <a:r>
              <a:rPr sz="2000" b="1" dirty="0">
                <a:latin typeface="Times New Roman"/>
                <a:cs typeface="Times New Roman"/>
              </a:rPr>
              <a:t>Baviri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Setty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Sai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Deevan</a:t>
            </a:r>
            <a:r>
              <a:rPr lang="en-US" sz="2000" b="1" spc="-5" dirty="0">
                <a:latin typeface="Times New Roman"/>
                <a:cs typeface="Times New Roman"/>
              </a:rPr>
              <a:t> - </a:t>
            </a:r>
            <a:r>
              <a:rPr sz="2000" b="1" spc="-10" dirty="0">
                <a:latin typeface="Times New Roman"/>
                <a:cs typeface="Times New Roman"/>
              </a:rPr>
              <a:t>241901016</a:t>
            </a:r>
            <a:endParaRPr sz="2000" dirty="0">
              <a:latin typeface="Times New Roman"/>
              <a:cs typeface="Times New Roman"/>
            </a:endParaRPr>
          </a:p>
          <a:p>
            <a:pPr marL="203200" indent="-193675">
              <a:lnSpc>
                <a:spcPct val="100000"/>
              </a:lnSpc>
              <a:spcBef>
                <a:spcPts val="409"/>
              </a:spcBef>
              <a:buSzPct val="95000"/>
              <a:buAutoNum type="arabicPeriod"/>
              <a:tabLst>
                <a:tab pos="203200" algn="l"/>
              </a:tabLst>
            </a:pPr>
            <a:r>
              <a:rPr sz="2000" b="1" dirty="0">
                <a:latin typeface="Times New Roman"/>
                <a:cs typeface="Times New Roman"/>
              </a:rPr>
              <a:t>Monish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Priyan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241901057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9435" y="3180892"/>
            <a:ext cx="1757045" cy="121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9385">
              <a:lnSpc>
                <a:spcPct val="1411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Supervisor: </a:t>
            </a:r>
            <a:r>
              <a:rPr sz="2000" b="1" spc="-45" dirty="0">
                <a:latin typeface="Times New Roman"/>
                <a:cs typeface="Times New Roman"/>
              </a:rPr>
              <a:t>Dr.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S.Bhuvana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350" b="1" spc="-10" dirty="0">
                <a:latin typeface="Times New Roman"/>
                <a:cs typeface="Times New Roman"/>
              </a:rPr>
              <a:t>Assistant</a:t>
            </a:r>
            <a:r>
              <a:rPr sz="1350" b="1" spc="-2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Professor[SG]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957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8016" y="1851100"/>
            <a:ext cx="4088765" cy="4128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spc="-10" dirty="0">
                <a:latin typeface="Times New Roman"/>
                <a:cs typeface="Times New Roman"/>
              </a:rPr>
              <a:t>Abstract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spc="-10" dirty="0">
                <a:latin typeface="Times New Roman"/>
                <a:cs typeface="Times New Roman"/>
              </a:rPr>
              <a:t>Objective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85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Literature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Survey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9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Summary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Literature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Proposed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Novelty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8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Diagram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59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spc="-10" dirty="0">
                <a:latin typeface="Times New Roman"/>
                <a:cs typeface="Times New Roman"/>
              </a:rPr>
              <a:t>Hardware/Software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requirements</a:t>
            </a:r>
            <a:endParaRPr sz="22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spcBef>
                <a:spcPts val="1610"/>
              </a:spcBef>
              <a:buFont typeface="Arial MT"/>
              <a:buChar char="•"/>
              <a:tabLst>
                <a:tab pos="356870" algn="l"/>
              </a:tabLst>
            </a:pPr>
            <a:r>
              <a:rPr sz="2200" spc="-10" dirty="0">
                <a:latin typeface="Times New Roman"/>
                <a:cs typeface="Times New Roman"/>
              </a:rPr>
              <a:t>References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42078" y="613105"/>
            <a:ext cx="231394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Calibri Light"/>
                <a:cs typeface="Calibri Light"/>
              </a:rPr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46884"/>
            <a:ext cx="10334625" cy="435546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0029" marR="134620" indent="-227329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Chess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observable,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deterministic,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adversarial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space 	</a:t>
            </a:r>
            <a:r>
              <a:rPr sz="2400" dirty="0">
                <a:latin typeface="Calibri"/>
                <a:cs typeface="Calibri"/>
              </a:rPr>
              <a:t>rather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entirely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classical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search 	</a:t>
            </a:r>
            <a:r>
              <a:rPr sz="2400" dirty="0">
                <a:latin typeface="Calibri"/>
                <a:cs typeface="Calibri"/>
              </a:rPr>
              <a:t>rather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learning.</a:t>
            </a:r>
            <a:endParaRPr sz="2400">
              <a:latin typeface="Calibri"/>
              <a:cs typeface="Calibri"/>
            </a:endParaRPr>
          </a:p>
          <a:p>
            <a:pPr marL="240029" marR="719455" indent="-227329">
              <a:lnSpc>
                <a:spcPct val="7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goal-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intelligent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chessboard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actions,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transition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problem-solving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foundation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255904" indent="-227329">
              <a:lnSpc>
                <a:spcPct val="7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hand-</a:t>
            </a:r>
            <a:r>
              <a:rPr sz="2400" spc="-20" dirty="0">
                <a:latin typeface="Calibri"/>
                <a:cs typeface="Calibri"/>
              </a:rPr>
              <a:t>crafted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encodes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material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value, 	</a:t>
            </a:r>
            <a:r>
              <a:rPr sz="2400" dirty="0">
                <a:latin typeface="Calibri"/>
                <a:cs typeface="Calibri"/>
              </a:rPr>
              <a:t>positional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strength,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mobility,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safety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static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assessment.</a:t>
            </a:r>
            <a:endParaRPr sz="2400">
              <a:latin typeface="Calibri"/>
              <a:cs typeface="Calibri"/>
            </a:endParaRPr>
          </a:p>
          <a:p>
            <a:pPr marL="240029" marR="324485" indent="-227329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Minimax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Alpha-Beta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Pruning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optimizes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traversal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exponentially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 	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tree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eliminating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affect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decision.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Iterative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Deepening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Quiescence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extend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within 	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fixed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budget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avoiding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horizon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unstable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positions.</a:t>
            </a:r>
            <a:endParaRPr sz="2400">
              <a:latin typeface="Calibri"/>
              <a:cs typeface="Calibri"/>
            </a:endParaRPr>
          </a:p>
          <a:p>
            <a:pPr marL="240029" marR="108585" indent="-227329">
              <a:lnSpc>
                <a:spcPct val="7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optimal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along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depth,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expanded,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-10" dirty="0">
                <a:latin typeface="Calibri"/>
                <a:cs typeface="Calibri"/>
              </a:rPr>
              <a:t> demonstrating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state-</a:t>
            </a:r>
            <a:r>
              <a:rPr sz="2400" dirty="0">
                <a:latin typeface="Calibri"/>
                <a:cs typeface="Calibri"/>
              </a:rPr>
              <a:t>space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optimization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real 	</a:t>
            </a:r>
            <a:r>
              <a:rPr sz="2400" dirty="0">
                <a:latin typeface="Calibri"/>
                <a:cs typeface="Calibri"/>
              </a:rPr>
              <a:t>adversarial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3075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latin typeface="Calibri Light"/>
                <a:cs typeface="Calibri Light"/>
              </a:rPr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56029"/>
            <a:ext cx="10346055" cy="417702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1300" marR="641350" indent="-228600">
              <a:lnSpc>
                <a:spcPct val="70000"/>
              </a:lnSpc>
              <a:spcBef>
                <a:spcPts val="9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implement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self-built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classical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search </a:t>
            </a:r>
            <a:r>
              <a:rPr sz="2200" dirty="0">
                <a:latin typeface="Calibri"/>
                <a:cs typeface="Calibri"/>
              </a:rPr>
              <a:t>techniques,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without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machine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component.</a:t>
            </a:r>
            <a:endParaRPr sz="2200">
              <a:latin typeface="Calibri"/>
              <a:cs typeface="Calibri"/>
            </a:endParaRPr>
          </a:p>
          <a:p>
            <a:pPr marL="241300" marR="979805" indent="-228600">
              <a:lnSpc>
                <a:spcPct val="7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chessboard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state-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consistent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with intelligent-</a:t>
            </a:r>
            <a:r>
              <a:rPr sz="2200" dirty="0">
                <a:latin typeface="Calibri"/>
                <a:cs typeface="Calibri"/>
              </a:rPr>
              <a:t>agent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theory.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implement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Minimax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enhanced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Alpha-</a:t>
            </a:r>
            <a:r>
              <a:rPr sz="2200" dirty="0">
                <a:latin typeface="Calibri"/>
                <a:cs typeface="Calibri"/>
              </a:rPr>
              <a:t>Beta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Pruning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optimize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traversal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adversarial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game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tree.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reduce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effective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branching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ordering,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transposition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tables,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iterative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deepening.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19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design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hand-</a:t>
            </a:r>
            <a:r>
              <a:rPr sz="2200" dirty="0">
                <a:latin typeface="Calibri"/>
                <a:cs typeface="Calibri"/>
              </a:rPr>
              <a:t>crafted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heuristic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evaluation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capable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guiding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depth-limited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decisions.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validate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correctness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through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systematic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testing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(perfect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validation).</a:t>
            </a:r>
            <a:endParaRPr sz="2200">
              <a:latin typeface="Calibri"/>
              <a:cs typeface="Calibri"/>
            </a:endParaRPr>
          </a:p>
          <a:p>
            <a:pPr marL="241300" marR="331470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75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interactive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visual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interface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engine's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decisions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statistics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observed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9485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spc="-150" dirty="0"/>
              <a:t> </a:t>
            </a:r>
            <a:r>
              <a:rPr spc="-1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819275"/>
          <a:ext cx="10368279" cy="4036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9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TITLE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42925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TECHNIQUE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3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a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Computer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Playing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Chess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1950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Claude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E.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Shannon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Minimax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over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game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tree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Blue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876300" marR="127635" indent="-7410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M.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Campbell,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J.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Hoane 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Jr.,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F.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Hsu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902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Parallel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Alpha-Beta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search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custom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hardware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move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hand-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tuned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evaluation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1440" marR="19050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Selectivity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Backup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Operators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in Monte-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Carlo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Tree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Search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2006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Rémi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Coulom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2446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MCTS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alternative</a:t>
                      </a:r>
                      <a:r>
                        <a:rPr sz="18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minimax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game-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tree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exploration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51075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Calibri Light"/>
                <a:cs typeface="Calibri Light"/>
              </a:rPr>
              <a:t>EXISTING</a:t>
            </a:r>
            <a:r>
              <a:rPr spc="-180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56029"/>
            <a:ext cx="10333990" cy="428371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41300" marR="316230" indent="-228600">
              <a:lnSpc>
                <a:spcPct val="70000"/>
              </a:lnSpc>
              <a:spcBef>
                <a:spcPts val="9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Deep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Blue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(IBM,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1997)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relied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custom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VLSI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hardware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combined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parallellised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Alpha-</a:t>
            </a:r>
            <a:r>
              <a:rPr sz="2200" dirty="0">
                <a:latin typeface="Calibri"/>
                <a:cs typeface="Calibri"/>
              </a:rPr>
              <a:t>Beta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~8,000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hand-</a:t>
            </a:r>
            <a:r>
              <a:rPr sz="2200" dirty="0">
                <a:latin typeface="Calibri"/>
                <a:cs typeface="Calibri"/>
              </a:rPr>
              <a:t>tuned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evaluation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features.</a:t>
            </a:r>
            <a:endParaRPr sz="2200">
              <a:latin typeface="Calibri"/>
              <a:cs typeface="Calibri"/>
            </a:endParaRPr>
          </a:p>
          <a:p>
            <a:pPr marL="241300" marR="315595" indent="-228600">
              <a:lnSpc>
                <a:spcPct val="7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Stockfish,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leading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modern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open-</a:t>
            </a:r>
            <a:r>
              <a:rPr sz="2200" dirty="0">
                <a:latin typeface="Calibri"/>
                <a:cs typeface="Calibri"/>
              </a:rPr>
              <a:t>source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combines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classical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Alpha-</a:t>
            </a:r>
            <a:r>
              <a:rPr sz="2200" dirty="0">
                <a:latin typeface="Calibri"/>
                <a:cs typeface="Calibri"/>
              </a:rPr>
              <a:t>Beta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search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efficiently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updatable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neural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(NNUE)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—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hybrid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rather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purely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classical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approach.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AlphaZero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(DeepMind)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replaces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hand-</a:t>
            </a:r>
            <a:r>
              <a:rPr sz="2200" dirty="0">
                <a:latin typeface="Calibri"/>
                <a:cs typeface="Calibri"/>
              </a:rPr>
              <a:t>crafted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evaluation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entirely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deep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spc="-10" dirty="0">
                <a:latin typeface="Calibri"/>
                <a:cs typeface="Calibri"/>
              </a:rPr>
              <a:t>reinforcement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neural-network-</a:t>
            </a:r>
            <a:r>
              <a:rPr sz="2200" dirty="0">
                <a:latin typeface="Calibri"/>
                <a:cs typeface="Calibri"/>
              </a:rPr>
              <a:t>guided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Monte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Carlo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Tree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Search.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Many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academic/student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external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libraries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(e.g.,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python-</a:t>
            </a:r>
            <a:r>
              <a:rPr sz="2200" dirty="0">
                <a:latin typeface="Calibri"/>
                <a:cs typeface="Calibri"/>
              </a:rPr>
              <a:t>chess)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generation,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limiting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depth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concepts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actually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implemented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by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student.</a:t>
            </a:r>
            <a:endParaRPr sz="2200">
              <a:latin typeface="Calibri"/>
              <a:cs typeface="Calibri"/>
            </a:endParaRPr>
          </a:p>
          <a:p>
            <a:pPr marL="241300" marR="332740" indent="-228600">
              <a:lnSpc>
                <a:spcPct val="7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Rule-</a:t>
            </a:r>
            <a:r>
              <a:rPr sz="2200" dirty="0">
                <a:latin typeface="Calibri"/>
                <a:cs typeface="Calibri"/>
              </a:rPr>
              <a:t>based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without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ordering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transposition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suffer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poor </a:t>
            </a:r>
            <a:r>
              <a:rPr sz="2200" spc="-10" dirty="0">
                <a:latin typeface="Calibri"/>
                <a:cs typeface="Calibri"/>
              </a:rPr>
              <a:t>Alpha-</a:t>
            </a:r>
            <a:r>
              <a:rPr sz="2200" dirty="0">
                <a:latin typeface="Calibri"/>
                <a:cs typeface="Calibri"/>
              </a:rPr>
              <a:t>Beta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pruning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efficiency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cannot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competitively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reasonable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time </a:t>
            </a:r>
            <a:r>
              <a:rPr sz="2200" spc="-10" dirty="0">
                <a:latin typeface="Calibri"/>
                <a:cs typeface="Calibri"/>
              </a:rPr>
              <a:t>limits.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Basic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command-</a:t>
            </a:r>
            <a:r>
              <a:rPr sz="2200" dirty="0">
                <a:latin typeface="Calibri"/>
                <a:cs typeface="Calibri"/>
              </a:rPr>
              <a:t>line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chess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programs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typically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lack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visual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interface,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search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decision-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opaque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user.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42079" y="613105"/>
            <a:ext cx="431800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>
                <a:latin typeface="Calibri Light"/>
                <a:cs typeface="Calibri Light"/>
              </a:rPr>
              <a:t>PROPOSED</a:t>
            </a:r>
            <a:r>
              <a:rPr spc="-185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68220"/>
            <a:ext cx="10270490" cy="386651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39395" marR="260350" indent="-226695">
              <a:lnSpc>
                <a:spcPct val="70000"/>
              </a:lnSpc>
              <a:spcBef>
                <a:spcPts val="8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fully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self-</a:t>
            </a:r>
            <a:r>
              <a:rPr sz="2000" dirty="0">
                <a:latin typeface="Calibri"/>
                <a:cs typeface="Calibri"/>
              </a:rPr>
              <a:t>built board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representation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legal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(including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castling,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passant, 	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promotion)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principles,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external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library.</a:t>
            </a:r>
            <a:endParaRPr sz="2000">
              <a:latin typeface="Calibri"/>
              <a:cs typeface="Calibri"/>
            </a:endParaRPr>
          </a:p>
          <a:p>
            <a:pPr marL="239395" marR="715645" indent="-226695">
              <a:lnSpc>
                <a:spcPct val="7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Minimax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reformulated</a:t>
            </a:r>
            <a:r>
              <a:rPr sz="2000" dirty="0">
                <a:latin typeface="Calibri"/>
                <a:cs typeface="Calibri"/>
              </a:rPr>
              <a:t> 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Negamax,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Alpha-</a:t>
            </a:r>
            <a:r>
              <a:rPr sz="2000" dirty="0">
                <a:latin typeface="Calibri"/>
                <a:cs typeface="Calibri"/>
              </a:rPr>
              <a:t>Beta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Pruning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	</a:t>
            </a:r>
            <a:r>
              <a:rPr sz="2000" dirty="0">
                <a:latin typeface="Calibri"/>
                <a:cs typeface="Calibri"/>
              </a:rPr>
              <a:t>eliminate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branches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influence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decision.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Move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(MVV-</a:t>
            </a:r>
            <a:r>
              <a:rPr sz="2000" spc="-50" dirty="0">
                <a:latin typeface="Calibri"/>
                <a:cs typeface="Calibri"/>
              </a:rPr>
              <a:t>LVA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heuristic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transposition-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best-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lookup)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maximize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sz="2000" dirty="0">
                <a:latin typeface="Calibri"/>
                <a:cs typeface="Calibri"/>
              </a:rPr>
              <a:t>pruning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efficiency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10" dirty="0">
                <a:latin typeface="Calibri"/>
                <a:cs typeface="Calibri"/>
              </a:rPr>
              <a:t> depth.</a:t>
            </a:r>
            <a:endParaRPr sz="2000">
              <a:latin typeface="Calibri"/>
              <a:cs typeface="Calibri"/>
            </a:endParaRPr>
          </a:p>
          <a:p>
            <a:pPr marL="239395" marR="897890" indent="-226695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Transposition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Zobrist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hashing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avoid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re-</a:t>
            </a:r>
            <a:r>
              <a:rPr sz="2000" dirty="0">
                <a:latin typeface="Calibri"/>
                <a:cs typeface="Calibri"/>
              </a:rPr>
              <a:t>searching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previously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encountered 	</a:t>
            </a:r>
            <a:r>
              <a:rPr sz="2000" dirty="0">
                <a:latin typeface="Calibri"/>
                <a:cs typeface="Calibri"/>
              </a:rPr>
              <a:t>positions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reached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different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orders.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6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Quiescence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capture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sequences,</a:t>
            </a:r>
            <a:r>
              <a:rPr sz="2000" spc="-10" dirty="0">
                <a:latin typeface="Calibri"/>
                <a:cs typeface="Calibri"/>
              </a:rPr>
              <a:t> avoiding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horizon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sz="2000" dirty="0">
                <a:latin typeface="Calibri"/>
                <a:cs typeface="Calibri"/>
              </a:rPr>
              <a:t>at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tactically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unstable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positions.</a:t>
            </a:r>
            <a:endParaRPr sz="2000">
              <a:latin typeface="Calibri"/>
              <a:cs typeface="Calibri"/>
            </a:endParaRPr>
          </a:p>
          <a:p>
            <a:pPr marL="239395" indent="-226695">
              <a:lnSpc>
                <a:spcPts val="2039"/>
              </a:lnSpc>
              <a:spcBef>
                <a:spcPts val="290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/>
                <a:cs typeface="Calibri"/>
              </a:rPr>
              <a:t>Iterative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Deepening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progressively </a:t>
            </a:r>
            <a:r>
              <a:rPr sz="2000" dirty="0">
                <a:latin typeface="Calibri"/>
                <a:cs typeface="Calibri"/>
              </a:rPr>
              <a:t>increase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fixed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budget,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039"/>
              </a:lnSpc>
            </a:pPr>
            <a:r>
              <a:rPr sz="2000" dirty="0">
                <a:latin typeface="Calibri"/>
                <a:cs typeface="Calibri"/>
              </a:rPr>
              <a:t>valid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always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available.</a:t>
            </a:r>
            <a:endParaRPr sz="2000">
              <a:latin typeface="Calibri"/>
              <a:cs typeface="Calibri"/>
            </a:endParaRPr>
          </a:p>
          <a:p>
            <a:pPr marL="239395" marR="5080" indent="-226695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hand-crafted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evaluation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material, </a:t>
            </a:r>
            <a:r>
              <a:rPr sz="2000" spc="-10" dirty="0">
                <a:latin typeface="Calibri"/>
                <a:cs typeface="Calibri"/>
              </a:rPr>
              <a:t>piece-</a:t>
            </a:r>
            <a:r>
              <a:rPr sz="2000" dirty="0">
                <a:latin typeface="Calibri"/>
                <a:cs typeface="Calibri"/>
              </a:rPr>
              <a:t>square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positional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mobility,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king 	</a:t>
            </a:r>
            <a:r>
              <a:rPr sz="2000" spc="-30" dirty="0">
                <a:latin typeface="Calibri"/>
                <a:cs typeface="Calibri"/>
              </a:rPr>
              <a:t>safety,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pawn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7110">
              <a:lnSpc>
                <a:spcPct val="100000"/>
              </a:lnSpc>
              <a:spcBef>
                <a:spcPts val="95"/>
              </a:spcBef>
            </a:pPr>
            <a:r>
              <a:rPr dirty="0"/>
              <a:t>Novelty</a:t>
            </a:r>
            <a:r>
              <a:rPr spc="-12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Proposed</a:t>
            </a:r>
            <a:r>
              <a:rPr spc="-14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756029"/>
            <a:ext cx="10069830" cy="4155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24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Unlike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student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projects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external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libraries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move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1850"/>
              </a:lnSpc>
            </a:pPr>
            <a:r>
              <a:rPr sz="2200" spc="-10" dirty="0">
                <a:latin typeface="Calibri"/>
                <a:cs typeface="Calibri"/>
              </a:rPr>
              <a:t>generation,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implements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scratch,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full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spc="-10" dirty="0">
                <a:latin typeface="Calibri"/>
                <a:cs typeface="Calibri"/>
              </a:rPr>
              <a:t>control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transparency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component.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1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Correctness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generation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formally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validated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Perft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method,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matching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published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reference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counts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exactly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—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rigorous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verification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approach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rarely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course-</a:t>
            </a:r>
            <a:r>
              <a:rPr sz="2200" dirty="0">
                <a:latin typeface="Calibri"/>
                <a:cs typeface="Calibri"/>
              </a:rPr>
              <a:t>level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system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exposes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internal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reasoning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(search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depth,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nodes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expanded,</a:t>
            </a:r>
            <a:endParaRPr sz="2200">
              <a:latin typeface="Calibri"/>
              <a:cs typeface="Calibri"/>
            </a:endParaRPr>
          </a:p>
          <a:p>
            <a:pPr marL="241300" marR="15875">
              <a:lnSpc>
                <a:spcPct val="70000"/>
              </a:lnSpc>
              <a:spcBef>
                <a:spcPts val="400"/>
              </a:spcBef>
            </a:pPr>
            <a:r>
              <a:rPr sz="2200" spc="-10" dirty="0">
                <a:latin typeface="Calibri"/>
                <a:cs typeface="Calibri"/>
              </a:rPr>
              <a:t>evaluation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score)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treating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black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box,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classical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AI </a:t>
            </a:r>
            <a:r>
              <a:rPr sz="2200" spc="-10" dirty="0">
                <a:latin typeface="Calibri"/>
                <a:cs typeface="Calibri"/>
              </a:rPr>
              <a:t>decision-</a:t>
            </a:r>
            <a:r>
              <a:rPr sz="2200" dirty="0">
                <a:latin typeface="Calibri"/>
                <a:cs typeface="Calibri"/>
              </a:rPr>
              <a:t>making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observable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explainable.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21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dual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implementation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strategy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(Python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logic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clarity,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JavaScript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interactive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deployment)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validated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standalone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research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artifact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real-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playable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interface.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245"/>
              </a:lnSpc>
              <a:spcBef>
                <a:spcPts val="19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evaluation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function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enhancements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modular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independently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1850"/>
              </a:lnSpc>
            </a:pPr>
            <a:r>
              <a:rPr sz="2200" dirty="0">
                <a:latin typeface="Calibri"/>
                <a:cs typeface="Calibri"/>
              </a:rPr>
              <a:t>tunable,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allowing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direct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experimental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comparison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pruning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efficiency,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move-</a:t>
            </a:r>
            <a:r>
              <a:rPr sz="2200" spc="-10" dirty="0">
                <a:latin typeface="Calibri"/>
                <a:cs typeface="Calibri"/>
              </a:rPr>
              <a:t>ordering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45"/>
              </a:lnSpc>
            </a:pPr>
            <a:r>
              <a:rPr sz="2200" dirty="0">
                <a:latin typeface="Calibri"/>
                <a:cs typeface="Calibri"/>
              </a:rPr>
              <a:t>impact,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search-</a:t>
            </a:r>
            <a:r>
              <a:rPr sz="2200" dirty="0">
                <a:latin typeface="Calibri"/>
                <a:cs typeface="Calibri"/>
              </a:rPr>
              <a:t>depth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tradeoffs.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Calibri Light"/>
                <a:cs typeface="Calibri Light"/>
              </a:rPr>
              <a:t>BLOCK</a:t>
            </a:r>
            <a:r>
              <a:rPr spc="-170" dirty="0">
                <a:latin typeface="Calibri Light"/>
                <a:cs typeface="Calibri Light"/>
              </a:rPr>
              <a:t> </a:t>
            </a:r>
            <a:r>
              <a:rPr spc="-55" dirty="0">
                <a:latin typeface="Calibri Light"/>
                <a:cs typeface="Calibri Light"/>
              </a:rPr>
              <a:t>DIAGRAM(PROPOSED</a:t>
            </a:r>
            <a:r>
              <a:rPr spc="-185" dirty="0">
                <a:latin typeface="Calibri Light"/>
                <a:cs typeface="Calibri Light"/>
              </a:rPr>
              <a:t> </a:t>
            </a:r>
            <a:r>
              <a:rPr spc="-10" dirty="0">
                <a:latin typeface="Calibri Light"/>
                <a:cs typeface="Calibri Light"/>
              </a:rPr>
              <a:t>SYSTEM)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4153471" y="6524740"/>
            <a:ext cx="390334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CA68F-3FDB-779D-E91C-DD7A7418E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842" y="1311477"/>
            <a:ext cx="8388604" cy="52041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6880">
              <a:lnSpc>
                <a:spcPct val="100000"/>
              </a:lnSpc>
              <a:spcBef>
                <a:spcPts val="95"/>
              </a:spcBef>
            </a:pPr>
            <a:r>
              <a:rPr spc="-65" dirty="0">
                <a:latin typeface="Calibri Light"/>
                <a:cs typeface="Calibri Light"/>
              </a:rPr>
              <a:t>Hardware/Software</a:t>
            </a:r>
            <a:r>
              <a:rPr spc="-165" dirty="0">
                <a:latin typeface="Calibri Light"/>
                <a:cs typeface="Calibri Light"/>
              </a:rPr>
              <a:t> </a:t>
            </a:r>
            <a:r>
              <a:rPr spc="-30" dirty="0">
                <a:latin typeface="Calibri Light"/>
                <a:cs typeface="Calibri Light"/>
              </a:rPr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244" y="1679699"/>
            <a:ext cx="9230360" cy="416814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2800" spc="-10" dirty="0">
                <a:latin typeface="Calibri"/>
                <a:cs typeface="Calibri"/>
              </a:rPr>
              <a:t>Hardware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Standard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PC/laptop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Intel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i3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above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Minimum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GB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RAM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(8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GB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recommended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deeper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depths)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GPU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required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(classical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—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machine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training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involved)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Requirement: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Python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3.x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(core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engine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implementation)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JavaScript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(ES6)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modern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browser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interactive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visual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interface)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Visual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Studio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Python-</a:t>
            </a:r>
            <a:r>
              <a:rPr sz="2200" spc="-10" dirty="0">
                <a:latin typeface="Calibri"/>
                <a:cs typeface="Calibri"/>
              </a:rPr>
              <a:t>compatible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IDE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Git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version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control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Rajalakshmi</a:t>
            </a:r>
            <a:r>
              <a:rPr spc="5" dirty="0"/>
              <a:t> </a:t>
            </a:r>
            <a:r>
              <a:rPr dirty="0"/>
              <a:t>Engineering</a:t>
            </a:r>
            <a:r>
              <a:rPr spc="25" dirty="0"/>
              <a:t> </a:t>
            </a:r>
            <a:r>
              <a:rPr spc="-10" dirty="0"/>
              <a:t>College,Department</a:t>
            </a:r>
            <a:r>
              <a:rPr dirty="0"/>
              <a:t> of</a:t>
            </a:r>
            <a:r>
              <a:rPr spc="15" dirty="0"/>
              <a:t> </a:t>
            </a:r>
            <a:r>
              <a:rPr dirty="0"/>
              <a:t>Cyber</a:t>
            </a:r>
            <a:r>
              <a:rPr spc="-3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846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2455" indent="-456565">
              <a:lnSpc>
                <a:spcPts val="2510"/>
              </a:lnSpc>
              <a:spcBef>
                <a:spcPts val="105"/>
              </a:spcBef>
              <a:buAutoNum type="arabicPeriod"/>
              <a:tabLst>
                <a:tab pos="592455" algn="l"/>
              </a:tabLst>
            </a:pPr>
            <a:r>
              <a:rPr dirty="0"/>
              <a:t>Shannon,</a:t>
            </a:r>
            <a:r>
              <a:rPr spc="-40" dirty="0"/>
              <a:t> </a:t>
            </a:r>
            <a:r>
              <a:rPr dirty="0"/>
              <a:t>C.</a:t>
            </a:r>
            <a:r>
              <a:rPr spc="-15" dirty="0"/>
              <a:t> </a:t>
            </a:r>
            <a:r>
              <a:rPr dirty="0"/>
              <a:t>E.</a:t>
            </a:r>
            <a:r>
              <a:rPr spc="-40" dirty="0"/>
              <a:t> </a:t>
            </a:r>
            <a:r>
              <a:rPr dirty="0"/>
              <a:t>(1950).</a:t>
            </a:r>
            <a:r>
              <a:rPr spc="-110" dirty="0"/>
              <a:t> </a:t>
            </a:r>
            <a:r>
              <a:rPr spc="-10" dirty="0"/>
              <a:t>Programming</a:t>
            </a:r>
            <a:r>
              <a:rPr spc="-8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Computer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Playing</a:t>
            </a:r>
            <a:r>
              <a:rPr spc="-45" dirty="0"/>
              <a:t> </a:t>
            </a:r>
            <a:r>
              <a:rPr dirty="0"/>
              <a:t>Chess.</a:t>
            </a:r>
            <a:r>
              <a:rPr spc="-35" dirty="0"/>
              <a:t> </a:t>
            </a:r>
            <a:r>
              <a:rPr spc="-10" dirty="0"/>
              <a:t>Philosophical</a:t>
            </a:r>
          </a:p>
          <a:p>
            <a:pPr marL="592455">
              <a:lnSpc>
                <a:spcPts val="2510"/>
              </a:lnSpc>
            </a:pPr>
            <a:r>
              <a:rPr dirty="0"/>
              <a:t>Magazine,</a:t>
            </a:r>
            <a:r>
              <a:rPr spc="-50" dirty="0"/>
              <a:t> </a:t>
            </a:r>
            <a:r>
              <a:rPr dirty="0"/>
              <a:t>Series</a:t>
            </a:r>
            <a:r>
              <a:rPr spc="-50" dirty="0"/>
              <a:t> </a:t>
            </a:r>
            <a:r>
              <a:rPr dirty="0"/>
              <a:t>7,</a:t>
            </a:r>
            <a:r>
              <a:rPr spc="-50" dirty="0"/>
              <a:t> </a:t>
            </a:r>
            <a:r>
              <a:rPr spc="-10" dirty="0"/>
              <a:t>41(314).</a:t>
            </a:r>
          </a:p>
          <a:p>
            <a:pPr marL="592455" indent="-456565">
              <a:lnSpc>
                <a:spcPts val="2510"/>
              </a:lnSpc>
              <a:spcBef>
                <a:spcPts val="725"/>
              </a:spcBef>
              <a:buAutoNum type="arabicPeriod" startAt="2"/>
              <a:tabLst>
                <a:tab pos="592455" algn="l"/>
              </a:tabLst>
            </a:pPr>
            <a:r>
              <a:rPr dirty="0"/>
              <a:t>Campbell,</a:t>
            </a:r>
            <a:r>
              <a:rPr spc="-50" dirty="0"/>
              <a:t> </a:t>
            </a:r>
            <a:r>
              <a:rPr dirty="0"/>
              <a:t>M.,</a:t>
            </a:r>
            <a:r>
              <a:rPr spc="-25" dirty="0"/>
              <a:t> </a:t>
            </a:r>
            <a:r>
              <a:rPr dirty="0"/>
              <a:t>Hoane,</a:t>
            </a:r>
            <a:r>
              <a:rPr spc="-25" dirty="0"/>
              <a:t> </a:t>
            </a:r>
            <a:r>
              <a:rPr dirty="0"/>
              <a:t>A.</a:t>
            </a:r>
            <a:r>
              <a:rPr spc="-25" dirty="0"/>
              <a:t> </a:t>
            </a:r>
            <a:r>
              <a:rPr dirty="0"/>
              <a:t>J.,</a:t>
            </a:r>
            <a:r>
              <a:rPr spc="-5" dirty="0"/>
              <a:t> </a:t>
            </a:r>
            <a:r>
              <a:rPr dirty="0"/>
              <a:t>&amp; Hsu,</a:t>
            </a:r>
            <a:r>
              <a:rPr spc="-5" dirty="0"/>
              <a:t> </a:t>
            </a:r>
            <a:r>
              <a:rPr spc="-90" dirty="0"/>
              <a:t>F.</a:t>
            </a:r>
            <a:r>
              <a:rPr spc="-5" dirty="0"/>
              <a:t> </a:t>
            </a:r>
            <a:r>
              <a:rPr dirty="0"/>
              <a:t>(2002).</a:t>
            </a:r>
            <a:r>
              <a:rPr spc="-95" dirty="0"/>
              <a:t> </a:t>
            </a:r>
            <a:r>
              <a:rPr dirty="0"/>
              <a:t>Deep</a:t>
            </a:r>
            <a:r>
              <a:rPr spc="-35" dirty="0"/>
              <a:t> </a:t>
            </a:r>
            <a:r>
              <a:rPr dirty="0"/>
              <a:t>Blue.</a:t>
            </a:r>
            <a:r>
              <a:rPr spc="-25" dirty="0"/>
              <a:t> </a:t>
            </a:r>
            <a:r>
              <a:rPr dirty="0"/>
              <a:t>Artificial</a:t>
            </a:r>
            <a:r>
              <a:rPr spc="-30" dirty="0"/>
              <a:t> </a:t>
            </a:r>
            <a:r>
              <a:rPr spc="-10" dirty="0"/>
              <a:t>Intelligence,</a:t>
            </a:r>
            <a:r>
              <a:rPr spc="-40" dirty="0"/>
              <a:t> </a:t>
            </a:r>
            <a:r>
              <a:rPr dirty="0"/>
              <a:t>134(1-</a:t>
            </a:r>
            <a:r>
              <a:rPr spc="-25" dirty="0"/>
              <a:t>2),</a:t>
            </a:r>
          </a:p>
          <a:p>
            <a:pPr marL="592455">
              <a:lnSpc>
                <a:spcPts val="2510"/>
              </a:lnSpc>
            </a:pPr>
            <a:r>
              <a:rPr dirty="0"/>
              <a:t>57-</a:t>
            </a:r>
            <a:r>
              <a:rPr spc="-25" dirty="0"/>
              <a:t>83.</a:t>
            </a:r>
          </a:p>
          <a:p>
            <a:pPr marL="592455" indent="-456565">
              <a:lnSpc>
                <a:spcPts val="2510"/>
              </a:lnSpc>
              <a:spcBef>
                <a:spcPts val="745"/>
              </a:spcBef>
              <a:buAutoNum type="arabicPeriod" startAt="3"/>
              <a:tabLst>
                <a:tab pos="592455" algn="l"/>
              </a:tabLst>
            </a:pPr>
            <a:r>
              <a:rPr dirty="0"/>
              <a:t>Coulom,</a:t>
            </a:r>
            <a:r>
              <a:rPr spc="-50" dirty="0"/>
              <a:t> </a:t>
            </a:r>
            <a:r>
              <a:rPr dirty="0"/>
              <a:t>R.</a:t>
            </a:r>
            <a:r>
              <a:rPr spc="-10" dirty="0"/>
              <a:t> </a:t>
            </a:r>
            <a:r>
              <a:rPr dirty="0"/>
              <a:t>(2006).</a:t>
            </a:r>
            <a:r>
              <a:rPr spc="-100" dirty="0"/>
              <a:t> </a:t>
            </a:r>
            <a:r>
              <a:rPr spc="-10" dirty="0"/>
              <a:t>Efficient</a:t>
            </a:r>
            <a:r>
              <a:rPr spc="-25" dirty="0"/>
              <a:t> </a:t>
            </a:r>
            <a:r>
              <a:rPr dirty="0"/>
              <a:t>Selectivity</a:t>
            </a:r>
            <a:r>
              <a:rPr spc="-6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Backup</a:t>
            </a:r>
            <a:r>
              <a:rPr spc="-60" dirty="0"/>
              <a:t> </a:t>
            </a:r>
            <a:r>
              <a:rPr spc="-10" dirty="0"/>
              <a:t>Operators</a:t>
            </a:r>
            <a:r>
              <a:rPr spc="-2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10" dirty="0"/>
              <a:t>Monte-</a:t>
            </a:r>
            <a:r>
              <a:rPr dirty="0"/>
              <a:t>Carlo</a:t>
            </a:r>
            <a:r>
              <a:rPr spc="-60" dirty="0"/>
              <a:t> </a:t>
            </a:r>
            <a:r>
              <a:rPr spc="-20" dirty="0"/>
              <a:t>Tree</a:t>
            </a:r>
          </a:p>
          <a:p>
            <a:pPr marL="592455">
              <a:lnSpc>
                <a:spcPts val="2510"/>
              </a:lnSpc>
            </a:pPr>
            <a:r>
              <a:rPr dirty="0"/>
              <a:t>Search.</a:t>
            </a:r>
            <a:r>
              <a:rPr spc="-95" dirty="0"/>
              <a:t> </a:t>
            </a:r>
            <a:r>
              <a:rPr dirty="0"/>
              <a:t>Computers</a:t>
            </a:r>
            <a:r>
              <a:rPr spc="-6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Games.</a:t>
            </a:r>
          </a:p>
          <a:p>
            <a:pPr marL="592455" indent="-456565">
              <a:lnSpc>
                <a:spcPts val="2510"/>
              </a:lnSpc>
              <a:spcBef>
                <a:spcPts val="745"/>
              </a:spcBef>
              <a:buAutoNum type="arabicPeriod" startAt="4"/>
              <a:tabLst>
                <a:tab pos="592455" algn="l"/>
              </a:tabLst>
            </a:pPr>
            <a:r>
              <a:rPr dirty="0"/>
              <a:t>Russel,</a:t>
            </a:r>
            <a:r>
              <a:rPr spc="-10" dirty="0"/>
              <a:t> </a:t>
            </a:r>
            <a:r>
              <a:rPr dirty="0"/>
              <a:t>S.,</a:t>
            </a:r>
            <a:r>
              <a:rPr spc="10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dirty="0"/>
              <a:t>Norvig,</a:t>
            </a:r>
            <a:r>
              <a:rPr spc="-10" dirty="0"/>
              <a:t> </a:t>
            </a:r>
            <a:r>
              <a:rPr spc="-145" dirty="0"/>
              <a:t>P.</a:t>
            </a:r>
            <a:r>
              <a:rPr spc="-10" dirty="0"/>
              <a:t> </a:t>
            </a:r>
            <a:r>
              <a:rPr dirty="0"/>
              <a:t>(2020).</a:t>
            </a:r>
            <a:r>
              <a:rPr spc="-60" dirty="0"/>
              <a:t> </a:t>
            </a:r>
            <a:r>
              <a:rPr dirty="0"/>
              <a:t>Artificial</a:t>
            </a:r>
            <a:r>
              <a:rPr spc="-45" dirty="0"/>
              <a:t> </a:t>
            </a:r>
            <a:r>
              <a:rPr spc="-10" dirty="0"/>
              <a:t>Intelligence:</a:t>
            </a:r>
            <a:r>
              <a:rPr spc="-25" dirty="0"/>
              <a:t> </a:t>
            </a:r>
            <a:r>
              <a:rPr dirty="0"/>
              <a:t>A Modern</a:t>
            </a:r>
            <a:r>
              <a:rPr spc="-45" dirty="0"/>
              <a:t> </a:t>
            </a:r>
            <a:r>
              <a:rPr spc="-10" dirty="0"/>
              <a:t>Approach</a:t>
            </a:r>
            <a:r>
              <a:rPr spc="-70" dirty="0"/>
              <a:t> </a:t>
            </a:r>
            <a:r>
              <a:rPr dirty="0"/>
              <a:t>(4</a:t>
            </a:r>
            <a:r>
              <a:rPr sz="2175" baseline="24904" dirty="0"/>
              <a:t>th</a:t>
            </a:r>
            <a:r>
              <a:rPr sz="2175" spc="270" baseline="24904" dirty="0"/>
              <a:t> </a:t>
            </a:r>
            <a:r>
              <a:rPr sz="2200" spc="-10" dirty="0"/>
              <a:t>ed.).</a:t>
            </a:r>
            <a:endParaRPr sz="2200"/>
          </a:p>
          <a:p>
            <a:pPr marL="592455">
              <a:lnSpc>
                <a:spcPts val="2510"/>
              </a:lnSpc>
            </a:pPr>
            <a:r>
              <a:rPr spc="-10" dirty="0"/>
              <a:t>Pearson.</a:t>
            </a:r>
            <a:r>
              <a:rPr spc="-6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Chapters</a:t>
            </a:r>
            <a:r>
              <a:rPr spc="-40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spc="-10" dirty="0"/>
              <a:t>Adversarial</a:t>
            </a:r>
            <a:r>
              <a:rPr spc="-70" dirty="0"/>
              <a:t> </a:t>
            </a:r>
            <a:r>
              <a:rPr dirty="0"/>
              <a:t>Search</a:t>
            </a:r>
            <a:r>
              <a:rPr spc="-4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Games.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1200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Calibri Light</vt:lpstr>
      <vt:lpstr>Times New Roman</vt:lpstr>
      <vt:lpstr>Office Theme</vt:lpstr>
      <vt:lpstr>Department of Cyber Security 2026-2027- Odd Semester</vt:lpstr>
      <vt:lpstr>Adversarial State-Space Optimization in Chess Environments</vt:lpstr>
      <vt:lpstr>OUTLINE</vt:lpstr>
      <vt:lpstr>ABSTRACT</vt:lpstr>
      <vt:lpstr>OBJECTIVE</vt:lpstr>
      <vt:lpstr>Literature Survey</vt:lpstr>
      <vt:lpstr>EXISTING SYSTEM</vt:lpstr>
      <vt:lpstr>PROPOSED SYSTEM</vt:lpstr>
      <vt:lpstr>Novelty in Proposed System</vt:lpstr>
      <vt:lpstr>BLOCK DIAGRAM(PROPOSED SYSTEM)</vt:lpstr>
      <vt:lpstr>Hardware/Software Requirements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dixit</cp:lastModifiedBy>
  <cp:revision>3</cp:revision>
  <dcterms:created xsi:type="dcterms:W3CDTF">2026-08-04T12:52:13Z</dcterms:created>
  <dcterms:modified xsi:type="dcterms:W3CDTF">2026-08-04T12:57:29Z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2026-08-04T00:00:00Z</vt:filetime>
  </property>
  <property fmtid="{D5CDD505-2E9C-101B-9397-08002B2CF9AE}" pid="6" name="Producer">
    <vt:lpwstr>www.ilovepdf.com</vt:lpwstr>
  </property>
</Properties>
</file>